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0C0C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D0C0C4"/>
                </a:solidFill>
                <a:latin typeface="Arial"/>
              </a:rPr>
              <a:t>Attendance Improvement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C891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89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Term 1</c:v>
                  </c:pt>
                  <c:pt idx="1">
                    <c:v>Term 2</c:v>
                  </c:pt>
                  <c:pt idx="2">
                    <c:v>Term 3</c:v>
                  </c:pt>
                  <c:pt idx="3">
                    <c:v>Term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81</c:v>
                </c:pt>
                <c:pt idx="2">
                  <c:v>88</c:v>
                </c:pt>
                <c:pt idx="3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89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7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202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7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210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E1A20"/>
          </a:solidFill>
          <a:ln w="12700">
            <a:solidFill>
              <a:srgbClr val="2E1A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C8913A">
              <a:alpha val="12000"/>
            </a:srgbClr>
          </a:solidFill>
          <a:ln w="12700">
            <a:solidFill>
              <a:srgbClr val="C8913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C8913A">
              <a:alpha val="6000"/>
            </a:srgbClr>
          </a:solidFill>
          <a:ln w="12700">
            <a:solidFill>
              <a:srgbClr val="C891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spc="100" kern="0" dirty="0">
                <a:solidFill>
                  <a:srgbClr val="E8C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Bridge of Knowledge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Virtual Classroom &amp; eLearning Platform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Sanskrit College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280160" cy="822960"/>
          </a:xfrm>
          <a:prstGeom prst="rect">
            <a:avLst/>
          </a:prstGeom>
          <a:solidFill>
            <a:srgbClr val="C8913A">
              <a:alpha val="15000"/>
            </a:srgbClr>
          </a:solidFill>
          <a:ln w="12700">
            <a:solidFill>
              <a:srgbClr val="C8913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65960" y="3474720"/>
            <a:ext cx="1280160" cy="822960"/>
          </a:xfrm>
          <a:prstGeom prst="rect">
            <a:avLst/>
          </a:prstGeom>
          <a:solidFill>
            <a:srgbClr val="C8913A">
              <a:alpha val="15000"/>
            </a:srgbClr>
          </a:solidFill>
          <a:ln w="12700">
            <a:solidFill>
              <a:srgbClr val="C8913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wks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474720"/>
            <a:ext cx="1280160" cy="822960"/>
          </a:xfrm>
          <a:prstGeom prst="rect">
            <a:avLst/>
          </a:prstGeom>
          <a:solidFill>
            <a:srgbClr val="C8913A">
              <a:alpha val="15000"/>
            </a:srgbClr>
          </a:solidFill>
          <a:ln w="12700">
            <a:solidFill>
              <a:srgbClr val="C8913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640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HIGHLIGHTS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1097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Virtual Live Classes with HD Video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6459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Full LMS with Course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Smart Timetable &amp; Slot Booking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7432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Staff &amp; Subject Administration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Real-time Reports &amp;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8404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+ PWA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3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FOR SANSKRIT COLLEGE USE  •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colleges face significant barriers to digital education delivery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64008" cy="118872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Central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conducted via fragmented tools — WhatsApp, Zoom, email — with no unified 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00200"/>
            <a:ext cx="64008" cy="118872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Scheduling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 and slot bookings are managed manually, leading to conflicts and errors.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118872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eLearning 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library, assignment tools, or quizzes. Students lack structured learning paths.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64008" cy="118872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has no insight into attendance, faculty performance, or student progress.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1A20"/>
          </a:solidFill>
          <a:ln w="12700">
            <a:solidFill>
              <a:srgbClr val="2E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 — One platform. All your academic needs.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web platform that unifies every aspect of Sanskrit college education — from administration to live teaching to eLearning — in a single, secure, mobile-ready portal.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65960" cy="2377440"/>
          </a:xfrm>
          <a:prstGeom prst="rect">
            <a:avLst/>
          </a:prstGeom>
          <a:solidFill>
            <a:srgbClr val="2E1A20"/>
          </a:solidFill>
          <a:ln w="19050">
            <a:solidFill>
              <a:srgbClr val="C891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1965960" cy="54864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· Subjects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· Slots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331720"/>
            <a:ext cx="1965960" cy="2377440"/>
          </a:xfrm>
          <a:prstGeom prst="rect">
            <a:avLst/>
          </a:prstGeom>
          <a:solidFill>
            <a:srgbClr val="2E1A20"/>
          </a:solidFill>
          <a:ln w="19050">
            <a:solidFill>
              <a:srgbClr val="5B8DD9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2331720"/>
            <a:ext cx="1965960" cy="54864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🎥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1460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Virtual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Video · Whiteboard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· Breakouts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1965960" cy="2377440"/>
          </a:xfrm>
          <a:prstGeom prst="rect">
            <a:avLst/>
          </a:prstGeom>
          <a:solidFill>
            <a:srgbClr val="2E1A20"/>
          </a:solidFill>
          <a:ln w="19050">
            <a:solidFill>
              <a:srgbClr val="5BAD8C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31720"/>
            <a:ext cx="1965960" cy="54864"/>
          </a:xfrm>
          <a:prstGeom prst="rect">
            <a:avLst/>
          </a:prstGeom>
          <a:solidFill>
            <a:srgbClr val="5BAD8C"/>
          </a:solidFill>
          <a:ln w="12700">
            <a:solidFill>
              <a:srgbClr val="5BA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6344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A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eLearning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A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· Quizzes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· Forums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377440"/>
          </a:xfrm>
          <a:prstGeom prst="rect">
            <a:avLst/>
          </a:prstGeom>
          <a:solidFill>
            <a:srgbClr val="2E1A20"/>
          </a:solidFill>
          <a:ln w="19050">
            <a:solidFill>
              <a:srgbClr val="B07DB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54864"/>
          </a:xfrm>
          <a:prstGeom prst="rect">
            <a:avLst/>
          </a:prstGeom>
          <a:solidFill>
            <a:srgbClr val="B07DB0"/>
          </a:solidFill>
          <a:ln w="12700">
            <a:solidFill>
              <a:srgbClr val="B07D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1228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07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07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Performance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·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MODULES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coverage from operations to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20240" cy="64008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Mgmt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463040"/>
            <a:ext cx="1920240" cy="64008"/>
          </a:xfrm>
          <a:prstGeom prst="rect">
            <a:avLst/>
          </a:prstGeom>
          <a:solidFill>
            <a:srgbClr val="6B4A8A"/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463040"/>
            <a:ext cx="1920240" cy="64008"/>
          </a:xfrm>
          <a:prstGeom prst="rect">
            <a:avLst/>
          </a:prstGeom>
          <a:solidFill>
            <a:srgbClr val="2A6B58"/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🗓️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463040"/>
            <a:ext cx="1920240" cy="64008"/>
          </a:xfrm>
          <a:prstGeom prst="rect">
            <a:avLst/>
          </a:prstGeom>
          <a:solidFill>
            <a:srgbClr val="8A3A2A"/>
          </a:solidFill>
          <a:ln w="12700">
            <a:solidFill>
              <a:srgbClr val="8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Mgmt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00400"/>
            <a:ext cx="1920240" cy="6400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3200400"/>
            <a:ext cx="192024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6888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320040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200400"/>
            <a:ext cx="1920240" cy="64008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61772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320040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0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3200400"/>
            <a:ext cx="1920240" cy="64008"/>
          </a:xfrm>
          <a:prstGeom prst="rect">
            <a:avLst/>
          </a:prstGeom>
          <a:solidFill>
            <a:srgbClr val="4A3A8A"/>
          </a:solidFill>
          <a:ln w="12700">
            <a:solidFill>
              <a:srgbClr val="4A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76656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&amp;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Staff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Faculty profiles with qualifications &amp; specializations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20824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Role-based access: Admin, HOD, Teacher, Guest Lecturer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Attendance &amp; availability calendar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44952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Teaching load &amp; workload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Credential &amp; document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Performance &amp; appraisal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solidFill>
            <a:srgbClr val="6B4A8A"/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Subject Management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Curriculum builder with syllabus 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20824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Subject-to-teacher assignment &amp; tracking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3288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Course material upload: PDF, video, audio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044952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Multi-language support (Sanskrit, English, Hindi)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57016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Prerequisite &amp; co-requisite subject linking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069080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Subject-wise student progress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6B58"/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&amp;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solidFill>
            <a:srgbClr val="2A6B58"/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Timetable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Drag-and-drop visual timetable builder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20824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Conflict detection &amp; auto-resolution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Class, batch &amp; section scheduling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44952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Holiday &amp; academic calendar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Export to PDF / share with 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Substitute teacher assignment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solidFill>
            <a:srgbClr val="8A3A2A"/>
          </a:solidFill>
          <a:ln w="12700">
            <a:solidFill>
              <a:srgbClr val="8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Slot Management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Flexible slot duration configuration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20824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Recurring &amp; one-time session slots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3288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Student self-booking for elective classes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044952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Buffer time between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57016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Booking confirmation &amp; reminders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069080"/>
            <a:ext cx="3931920" cy="457200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Waitlist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—  VIRTUAL CLASSROOM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🎥  Live Virtual Learning Environment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classroom experience accessible from any browser or device.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2024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HD Video Conferencing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WebRTC-based low-latency streaming with 500+ concurrent users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92024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92024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Interactive Whiteboard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3591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drawing, annotations, and Sanskrit script support for teaching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192024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92024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Screen Sharing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3591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 or application sharing with annotation overlay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3756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⏺️  Session Recording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764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 classes for later playback; stored in secure cloud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333756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333756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Breakout Rooms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7764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students into small groups for discussions and group projects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3337560"/>
            <a:ext cx="2697480" cy="1234440"/>
          </a:xfrm>
          <a:prstGeom prst="rect">
            <a:avLst/>
          </a:prstGeom>
          <a:solidFill>
            <a:srgbClr val="1E2E48"/>
          </a:solidFill>
          <a:ln w="9525">
            <a:solidFill>
              <a:srgbClr val="5B8DD9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3337560"/>
            <a:ext cx="54864" cy="1234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Live Engagement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7764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hand, live polls, Q&amp;A board, and real-time attendance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—  eLEARNING &amp; LMS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Full-Featured Learning Management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45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Course Builder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courses with modules, lessons, and resources. Upload PDFs, videos, and audio.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5087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50876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45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Assignments &amp; Quizzes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auto-graded quizzes, manual assignments, and rubric-based assessments.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5087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50876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645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 Forums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forums for peer learning, subject Q&amp;A, and collaborative study groups.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5468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657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leaderboards, and achievement certificates to motivate students.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315468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315468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+ Offline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657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app. Download lessons for offline access in low-connectivity areas.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315468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3154680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45352" y="3657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suggestions, difficulty-adaptive quizzes, and personalized learning paths.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1A20"/>
          </a:solidFill>
          <a:ln w="12700">
            <a:solidFill>
              <a:srgbClr val="2E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&amp; 8  —  REPORTS &amp; ADMINISTRATION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Data-driven insights for smarter decisions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417320"/>
            <a:ext cx="4206240" cy="594360"/>
          </a:xfrm>
          <a:prstGeom prst="rect">
            <a:avLst/>
          </a:prstGeom>
          <a:solidFill>
            <a:srgbClr val="2E1A20"/>
          </a:solidFill>
          <a:ln w="9525">
            <a:solidFill>
              <a:srgbClr val="4A30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417320"/>
            <a:ext cx="54864" cy="59436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4538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Attendance Reports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by student, class, and subject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4206240" cy="594360"/>
          </a:xfrm>
          <a:prstGeom prst="rect">
            <a:avLst/>
          </a:prstGeom>
          <a:solidFill>
            <a:srgbClr val="2E1A20"/>
          </a:solidFill>
          <a:ln w="9525">
            <a:solidFill>
              <a:srgbClr val="4A30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103120"/>
            <a:ext cx="54864" cy="59436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139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Performance Dashboard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quiz scores, and assignment completion rates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206240" cy="594360"/>
          </a:xfrm>
          <a:prstGeom prst="rect">
            <a:avLst/>
          </a:prstGeom>
          <a:solidFill>
            <a:srgbClr val="2E1A20"/>
          </a:solidFill>
          <a:ln w="9525">
            <a:solidFill>
              <a:srgbClr val="4A30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788920"/>
            <a:ext cx="54864" cy="59436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825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Faculty Analytics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3081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hours, session quality, and availability metrics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474720"/>
            <a:ext cx="4206240" cy="594360"/>
          </a:xfrm>
          <a:prstGeom prst="rect">
            <a:avLst/>
          </a:prstGeom>
          <a:solidFill>
            <a:srgbClr val="2E1A20"/>
          </a:solidFill>
          <a:ln w="9525">
            <a:solidFill>
              <a:srgbClr val="4A303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474720"/>
            <a:ext cx="54864" cy="59436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Exam &amp; Assessment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3767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tabulation with rank lists and progress trends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4160520"/>
            <a:ext cx="4206240" cy="594360"/>
          </a:xfrm>
          <a:prstGeom prst="rect">
            <a:avLst/>
          </a:prstGeom>
          <a:solidFill>
            <a:srgbClr val="2E1A20"/>
          </a:solidFill>
          <a:ln w="9525">
            <a:solidFill>
              <a:srgbClr val="4A303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4160520"/>
            <a:ext cx="54864" cy="594360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4197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&amp; Share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4453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Excel/PDF; email to parents or admin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scalable, cloud-ready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41148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920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 (PWA)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offline-capable web 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8503920" cy="438912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95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3957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Django REST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3957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horizontally scalable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7121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28712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+ Jitsi / Agora SDK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712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concurrent low-latency sessions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8503920" cy="438912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467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346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Cache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with fast caching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2219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8221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MinIO (India)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8221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recordings &amp; document storage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503920" cy="438912"/>
          </a:xfrm>
          <a:prstGeom prst="rect">
            <a:avLst/>
          </a:prstGeom>
          <a:solidFill>
            <a:srgbClr val="F9F3EC"/>
          </a:solidFill>
          <a:ln w="6350">
            <a:solidFill>
              <a:srgbClr val="E0D0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97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42976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+ JWT + SSO + 2FA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297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TLS 1.3 encryption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14-week phased delivery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65960" cy="82296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22860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Subject &amp; Admin 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73152" cy="22860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Slot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73152" cy="22860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&amp; user portal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73152" cy="228600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setup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46304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463040"/>
            <a:ext cx="1965960" cy="82296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Classroom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651760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HD video sessions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127248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&amp; screen sharing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602736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 &amp; recording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4078224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148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tracking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46304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63040"/>
            <a:ext cx="1965960" cy="82296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eLearning Suite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1772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651760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&amp; course builder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127248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quizzes, grading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02736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 &amp; gamification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078224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+ Android)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146304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1463040"/>
            <a:ext cx="1965960" cy="82296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6656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 Launch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6656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2651760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3127248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ERP/API integrations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3602736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UAT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4078224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916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support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E0D5"/>
          </a:solidFill>
          <a:ln w="12700">
            <a:solidFill>
              <a:srgbClr val="EAE0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1A20"/>
          </a:solidFill>
          <a:ln w="12700">
            <a:solidFill>
              <a:srgbClr val="2E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plan that fits your institution's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337560"/>
          </a:xfrm>
          <a:prstGeom prst="rect">
            <a:avLst/>
          </a:prstGeom>
          <a:solidFill>
            <a:srgbClr val="1E1218"/>
          </a:solidFill>
          <a:ln w="12700">
            <a:solidFill>
              <a:srgbClr val="4A3A5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9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2514600"/>
            <a:ext cx="137160" cy="137160"/>
          </a:xfrm>
          <a:prstGeom prst="ellipse">
            <a:avLst/>
          </a:prstGeom>
          <a:solidFill>
            <a:srgbClr val="4A3A5A">
              <a:alpha val="70000"/>
            </a:srgbClr>
          </a:solidFill>
          <a:ln w="12700">
            <a:solidFill>
              <a:srgbClr val="4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Subject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953512"/>
            <a:ext cx="137160" cy="137160"/>
          </a:xfrm>
          <a:prstGeom prst="ellipse">
            <a:avLst/>
          </a:prstGeom>
          <a:solidFill>
            <a:srgbClr val="4A3A5A">
              <a:alpha val="70000"/>
            </a:srgbClr>
          </a:solidFill>
          <a:ln w="12700">
            <a:solidFill>
              <a:srgbClr val="4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Slot Booking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392424"/>
            <a:ext cx="137160" cy="137160"/>
          </a:xfrm>
          <a:prstGeom prst="ellipse">
            <a:avLst/>
          </a:prstGeom>
          <a:solidFill>
            <a:srgbClr val="4A3A5A">
              <a:alpha val="70000"/>
            </a:srgbClr>
          </a:solidFill>
          <a:ln w="12700">
            <a:solidFill>
              <a:srgbClr val="4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009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831336"/>
            <a:ext cx="137160" cy="137160"/>
          </a:xfrm>
          <a:prstGeom prst="ellipse">
            <a:avLst/>
          </a:prstGeom>
          <a:solidFill>
            <a:srgbClr val="4A3A5A">
              <a:alpha val="70000"/>
            </a:srgbClr>
          </a:solidFill>
          <a:ln w="12700">
            <a:solidFill>
              <a:srgbClr val="4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39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270248"/>
            <a:ext cx="137160" cy="137160"/>
          </a:xfrm>
          <a:prstGeom prst="ellipse">
            <a:avLst/>
          </a:prstGeom>
          <a:solidFill>
            <a:srgbClr val="4A3A5A">
              <a:alpha val="70000"/>
            </a:srgbClr>
          </a:solidFill>
          <a:ln w="12700">
            <a:solidFill>
              <a:srgbClr val="4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463040"/>
            <a:ext cx="2560320" cy="3337560"/>
          </a:xfrm>
          <a:prstGeom prst="rect">
            <a:avLst/>
          </a:prstGeom>
          <a:solidFill>
            <a:srgbClr val="2A2010"/>
          </a:solidFill>
          <a:ln w="25400">
            <a:solidFill>
              <a:srgbClr val="C891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463040"/>
            <a:ext cx="2560320" cy="347472"/>
          </a:xfrm>
          <a:prstGeom prst="rect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 users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2852928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7614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6432" y="3291840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 (HD)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56432" y="3730752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639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LMS &amp; Quizzes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4169664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0782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56432" y="4608576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45171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+ Android)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5047488"/>
            <a:ext cx="137160" cy="1371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956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SLA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463040"/>
            <a:ext cx="2560320" cy="3337560"/>
          </a:xfrm>
          <a:prstGeom prst="rect">
            <a:avLst/>
          </a:prstGeom>
          <a:solidFill>
            <a:srgbClr val="1E1218"/>
          </a:solidFill>
          <a:ln w="12700">
            <a:solidFill>
              <a:srgbClr val="3A5A4A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91072" y="2514600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2953512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&amp; Domain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3392424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33009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ERP Integration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3831336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739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91072" y="4270248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4709160"/>
            <a:ext cx="137160" cy="137160"/>
          </a:xfrm>
          <a:prstGeom prst="ellipse">
            <a:avLst/>
          </a:prstGeom>
          <a:solidFill>
            <a:srgbClr val="3A5A4A">
              <a:alpha val="70000"/>
            </a:srgbClr>
          </a:solidFill>
          <a:ln w="12700">
            <a:solidFill>
              <a:srgbClr val="3A5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SLA Guarantee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1A20"/>
          </a:solidFill>
          <a:ln w="12700">
            <a:solidFill>
              <a:srgbClr val="2E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1828800"/>
            <a:ext cx="6400800" cy="6400800"/>
          </a:xfrm>
          <a:prstGeom prst="ellipse">
            <a:avLst/>
          </a:prstGeom>
          <a:solidFill>
            <a:srgbClr val="C8913A">
              <a:alpha val="7000"/>
            </a:srgbClr>
          </a:solidFill>
          <a:ln w="12700">
            <a:solidFill>
              <a:srgbClr val="C8913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6B1E2C">
              <a:alpha val="12000"/>
            </a:srgbClr>
          </a:solidFill>
          <a:ln w="12700">
            <a:solidFill>
              <a:srgbClr val="6B1E2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VidyaSetu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C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Bridging Ancient Knowledge with Digital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2377440" cy="1005840"/>
          </a:xfrm>
          <a:prstGeom prst="rect">
            <a:avLst/>
          </a:prstGeom>
          <a:solidFill>
            <a:srgbClr val="6B1E2C">
              <a:alpha val="60000"/>
            </a:srgbClr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Request Demo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in 30 mins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246120"/>
            <a:ext cx="2377440" cy="1005840"/>
          </a:xfrm>
          <a:prstGeom prst="rect">
            <a:avLst/>
          </a:prstGeom>
          <a:solidFill>
            <a:srgbClr val="6B1E2C">
              <a:alpha val="60000"/>
            </a:srgbClr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Get Proposal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 for your college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246120"/>
            <a:ext cx="2377440" cy="1005840"/>
          </a:xfrm>
          <a:prstGeom prst="rect">
            <a:avLst/>
          </a:prstGeom>
          <a:solidFill>
            <a:srgbClr val="6B1E2C">
              <a:alpha val="60000"/>
            </a:srgbClr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Pilot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30-day trial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Platform  •  Powered by modern web technology  •  Made for Sanskrit Education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VidyaSetu - Virtual Classroom for Sanskrit College</dc:title>
  <dc:subject>PptxGenJS Presentation</dc:subject>
  <dc:creator>Platform Proposal</dc:creator>
  <cp:lastModifiedBy>Platform Proposal</cp:lastModifiedBy>
  <cp:revision>1</cp:revision>
  <dcterms:created xsi:type="dcterms:W3CDTF">2026-03-07T08:27:39Z</dcterms:created>
  <dcterms:modified xsi:type="dcterms:W3CDTF">2026-03-07T08:27:39Z</dcterms:modified>
</cp:coreProperties>
</file>