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rts/chart1.xml" ContentType="application/vnd.openxmlformats-officedocument.drawingml.chart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43" d="100"/>
          <a:sy n="143" d="100"/>
        </p:scale>
        <p:origin x="664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3A1500"/>
                </a:solidFill>
                <a:latin typeface="Arial"/>
              </a:defRPr>
            </a:pPr>
            <a:r>
              <a:rPr sz="1200" b="0" i="0" u="none" strike="noStrike">
                <a:solidFill>
                  <a:srgbClr val="3A1500"/>
                </a:solidFill>
                <a:latin typeface="Arial"/>
              </a:rPr>
              <a:t>Attendance Improvement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Attendance %</c:v>
                </c:pt>
              </c:strCache>
            </c:strRef>
          </c:tx>
          <c:spPr>
            <a:solidFill>
              <a:srgbClr val="D4580A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D4580A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Term 1</c:v>
                </c:pt>
                <c:pt idx="1">
                  <c:v>Term 2</c:v>
                </c:pt>
                <c:pt idx="2">
                  <c:v>Term 3</c:v>
                </c:pt>
                <c:pt idx="3">
                  <c:v>Term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72</c:v>
                </c:pt>
                <c:pt idx="1">
                  <c:v>81</c:v>
                </c:pt>
                <c:pt idx="2">
                  <c:v>88</c:v>
                </c:pt>
                <c:pt idx="3">
                  <c:v>94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BC6-6941-B2B5-83AA51EED615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A3A1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8C8A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A3A1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E8C0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702381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3E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D4580A"/>
          </a:solidFill>
          <a:ln w="12700">
            <a:solidFill>
              <a:srgbClr val="D4580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303520" y="0"/>
            <a:ext cx="3840480" cy="5143500"/>
          </a:xfrm>
          <a:prstGeom prst="rect">
            <a:avLst/>
          </a:prstGeom>
          <a:solidFill>
            <a:srgbClr val="FFE8C0"/>
          </a:solidFill>
          <a:ln w="12700">
            <a:solidFill>
              <a:srgbClr val="FFE8C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0" y="-1645920"/>
            <a:ext cx="5029200" cy="5029200"/>
          </a:xfrm>
          <a:prstGeom prst="ellipse">
            <a:avLst/>
          </a:prstGeom>
          <a:solidFill>
            <a:srgbClr val="D4580A">
              <a:alpha val="10000"/>
            </a:srgbClr>
          </a:solidFill>
          <a:ln w="12700">
            <a:solidFill>
              <a:srgbClr val="F4962A">
                <a:alpha val="3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132320" y="-548640"/>
            <a:ext cx="3200400" cy="3200400"/>
          </a:xfrm>
          <a:prstGeom prst="ellipse">
            <a:avLst/>
          </a:prstGeom>
          <a:solidFill>
            <a:srgbClr val="D4580A">
              <a:alpha val="8000"/>
            </a:srgbClr>
          </a:solidFill>
          <a:ln w="12700">
            <a:solidFill>
              <a:srgbClr val="F4962A">
                <a:alpha val="2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50292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kern="0" spc="300" dirty="0">
                <a:solidFill>
                  <a:srgbClr val="D458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संस्कृत महाविद्यालय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960120"/>
            <a:ext cx="5029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3A15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VidyaSetu</a:t>
            </a:r>
            <a:endParaRPr lang="en-US" sz="5400" dirty="0"/>
          </a:p>
        </p:txBody>
      </p:sp>
      <p:sp>
        <p:nvSpPr>
          <p:cNvPr id="8" name="Text 6"/>
          <p:cNvSpPr/>
          <p:nvPr/>
        </p:nvSpPr>
        <p:spPr>
          <a:xfrm>
            <a:off x="457200" y="196596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kern="0" spc="100" dirty="0">
                <a:solidFill>
                  <a:srgbClr val="D458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विद्यासेतु — Bridge of Knowledge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57200" y="256032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7A3A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complete Virtual Classroom &amp; eLearning Platform</a:t>
            </a:r>
            <a:endParaRPr lang="en-US" sz="13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7A3A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designed for Sanskrit College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3474720"/>
            <a:ext cx="1280160" cy="822960"/>
          </a:xfrm>
          <a:prstGeom prst="rect">
            <a:avLst/>
          </a:prstGeom>
          <a:solidFill>
            <a:srgbClr val="D4580A">
              <a:alpha val="12000"/>
            </a:srgbClr>
          </a:solidFill>
          <a:ln w="12700">
            <a:solidFill>
              <a:srgbClr val="F4962A">
                <a:alpha val="4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3493008"/>
            <a:ext cx="1280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D458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457200" y="3877056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kern="0" spc="200" dirty="0">
                <a:solidFill>
                  <a:srgbClr val="B06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Modules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1965960" y="3474720"/>
            <a:ext cx="1280160" cy="822960"/>
          </a:xfrm>
          <a:prstGeom prst="rect">
            <a:avLst/>
          </a:prstGeom>
          <a:solidFill>
            <a:srgbClr val="D4580A">
              <a:alpha val="12000"/>
            </a:srgbClr>
          </a:solidFill>
          <a:ln w="12700">
            <a:solidFill>
              <a:srgbClr val="F4962A">
                <a:alpha val="4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965960" y="3493008"/>
            <a:ext cx="1280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D458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14 wks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965960" y="3877056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kern="0" spc="200" dirty="0">
                <a:solidFill>
                  <a:srgbClr val="B06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474720" y="3474720"/>
            <a:ext cx="1280160" cy="822960"/>
          </a:xfrm>
          <a:prstGeom prst="rect">
            <a:avLst/>
          </a:prstGeom>
          <a:solidFill>
            <a:srgbClr val="D4580A">
              <a:alpha val="12000"/>
            </a:srgbClr>
          </a:solidFill>
          <a:ln w="12700">
            <a:solidFill>
              <a:srgbClr val="F4962A">
                <a:alpha val="40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474720" y="3493008"/>
            <a:ext cx="1280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D458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500+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3474720" y="3877056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kern="0" spc="200" dirty="0">
                <a:solidFill>
                  <a:srgbClr val="B06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577840" y="64008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D458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HIGHLIGHTS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5577840" y="1097280"/>
            <a:ext cx="32918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7A3A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🎓  Virtual Live Classes with HD Video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577840" y="1645920"/>
            <a:ext cx="32918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7A3A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📚  Full LMS with Course Management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577840" y="2194560"/>
            <a:ext cx="32918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7A3A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🗓️  Smart Timetable &amp; Slot Booking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577840" y="2743200"/>
            <a:ext cx="32918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7A3A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👨‍🏫  Staff &amp; Subject Administration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577840" y="3291840"/>
            <a:ext cx="32918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7A3A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Real-time Reports &amp; Analytics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577840" y="3840480"/>
            <a:ext cx="32918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7A3A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📱  Mobile App + PWA Support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kern="0" spc="200" dirty="0">
                <a:solidFill>
                  <a:srgbClr val="B06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 •  FOR SANSKRIT COLLEGE USE  •  2025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3E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D4580A"/>
          </a:solidFill>
          <a:ln w="12700">
            <a:solidFill>
              <a:srgbClr val="D4580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FDB8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CHALLENGE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3A15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Sanskrit colleges face significant barriers to digital education delivery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65760" y="1600200"/>
            <a:ext cx="4114800" cy="1188720"/>
          </a:xfrm>
          <a:prstGeom prst="rect">
            <a:avLst/>
          </a:prstGeom>
          <a:solidFill>
            <a:srgbClr val="FFFDF8"/>
          </a:solidFill>
          <a:ln w="12700">
            <a:solidFill>
              <a:srgbClr val="E8C8A0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600200"/>
            <a:ext cx="64008" cy="1188720"/>
          </a:xfrm>
          <a:prstGeom prst="rect">
            <a:avLst/>
          </a:prstGeom>
          <a:solidFill>
            <a:srgbClr val="D4580A"/>
          </a:solidFill>
          <a:ln w="12700">
            <a:solidFill>
              <a:srgbClr val="D4580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30352" y="1691640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458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No Central Platform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30352" y="2011680"/>
            <a:ext cx="3749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7A3A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Classes via fragmented tools — WhatsApp, Zoom, email — with no unified system.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754880" y="1600200"/>
            <a:ext cx="4114800" cy="1188720"/>
          </a:xfrm>
          <a:prstGeom prst="rect">
            <a:avLst/>
          </a:prstGeom>
          <a:solidFill>
            <a:srgbClr val="FFFDF8"/>
          </a:solidFill>
          <a:ln w="12700">
            <a:solidFill>
              <a:srgbClr val="E8C8A0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54880" y="1600200"/>
            <a:ext cx="64008" cy="1188720"/>
          </a:xfrm>
          <a:prstGeom prst="rect">
            <a:avLst/>
          </a:prstGeom>
          <a:solidFill>
            <a:srgbClr val="D4580A"/>
          </a:solidFill>
          <a:ln w="12700">
            <a:solidFill>
              <a:srgbClr val="D4580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19472" y="1691640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458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Manual Scheduling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919472" y="2011680"/>
            <a:ext cx="3749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7A3A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Timetables and slot bookings managed manually, causing conflicts and errors.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65760" y="2971800"/>
            <a:ext cx="4114800" cy="1188720"/>
          </a:xfrm>
          <a:prstGeom prst="rect">
            <a:avLst/>
          </a:prstGeom>
          <a:solidFill>
            <a:srgbClr val="FFFDF8"/>
          </a:solidFill>
          <a:ln w="12700">
            <a:solidFill>
              <a:srgbClr val="E8C8A0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65760" y="2971800"/>
            <a:ext cx="64008" cy="1188720"/>
          </a:xfrm>
          <a:prstGeom prst="rect">
            <a:avLst/>
          </a:prstGeom>
          <a:solidFill>
            <a:srgbClr val="D4580A"/>
          </a:solidFill>
          <a:ln w="12700">
            <a:solidFill>
              <a:srgbClr val="D4580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30352" y="3063240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458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No eLearning Infrastructure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30352" y="3383280"/>
            <a:ext cx="3749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7A3A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digital library, assignments, or quizzes. Students lack structured learning paths.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754880" y="2971800"/>
            <a:ext cx="4114800" cy="1188720"/>
          </a:xfrm>
          <a:prstGeom prst="rect">
            <a:avLst/>
          </a:prstGeom>
          <a:solidFill>
            <a:srgbClr val="FFFDF8"/>
          </a:solidFill>
          <a:ln w="12700">
            <a:solidFill>
              <a:srgbClr val="E8C8A0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754880" y="2971800"/>
            <a:ext cx="64008" cy="1188720"/>
          </a:xfrm>
          <a:prstGeom prst="rect">
            <a:avLst/>
          </a:prstGeom>
          <a:solidFill>
            <a:srgbClr val="D4580A"/>
          </a:solidFill>
          <a:ln w="12700">
            <a:solidFill>
              <a:srgbClr val="D4580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919472" y="3063240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458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Poor Visibility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919472" y="3383280"/>
            <a:ext cx="3749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7A3A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Administration has no insight into attendance, faculty performance, or student progress.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FFE8C0"/>
          </a:solidFill>
          <a:ln w="12700">
            <a:solidFill>
              <a:srgbClr val="FFE8C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4901184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B06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VidyaSetu  •  Sanskrit College Virtual Classroom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D458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-1828800"/>
            <a:ext cx="6400800" cy="6400800"/>
          </a:xfrm>
          <a:prstGeom prst="ellipse">
            <a:avLst/>
          </a:prstGeom>
          <a:solidFill>
            <a:srgbClr val="FDB855">
              <a:alpha val="15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E87020"/>
          </a:solidFill>
          <a:ln w="12700">
            <a:solidFill>
              <a:srgbClr val="E8702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OVERVIEW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9144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VidyaSetu — One platform. All your academic needs.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57200" y="15087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FFEE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purpose-built web platform that unifies every aspect of Sanskrit college education — from</a:t>
            </a:r>
            <a:endParaRPr lang="en-US" sz="12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FFEE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administration to live teaching to eLearning — in a single, secure, mobile-ready portal.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65760" y="2331720"/>
            <a:ext cx="1965960" cy="2377440"/>
          </a:xfrm>
          <a:prstGeom prst="rect">
            <a:avLst/>
          </a:prstGeom>
          <a:solidFill>
            <a:schemeClr val="accent4">
              <a:lumMod val="40000"/>
              <a:lumOff val="60000"/>
              <a:alpha val="80000"/>
            </a:schemeClr>
          </a:solidFill>
          <a:ln w="19050">
            <a:solidFill>
              <a:srgbClr val="FFFFFF">
                <a:alpha val="5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5760" y="2331720"/>
            <a:ext cx="1965960" cy="5486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2468880"/>
            <a:ext cx="1965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dirty="0"/>
              <a:t>🏛️</a:t>
            </a:r>
          </a:p>
        </p:txBody>
      </p:sp>
      <p:sp>
        <p:nvSpPr>
          <p:cNvPr id="10" name="Text 8"/>
          <p:cNvSpPr/>
          <p:nvPr/>
        </p:nvSpPr>
        <p:spPr>
          <a:xfrm>
            <a:off x="365760" y="3154680"/>
            <a:ext cx="1965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300" b="1" dirty="0">
                <a:latin typeface="Georgia" pitchFamily="34" charset="0"/>
                <a:ea typeface="Georgia" pitchFamily="34" charset="-122"/>
                <a:cs typeface="Georgia" pitchFamily="34" charset="-120"/>
              </a:rPr>
              <a:t>Academic</a:t>
            </a:r>
            <a:endParaRPr lang="en-US" sz="1300" dirty="0"/>
          </a:p>
          <a:p>
            <a:pPr marL="0" indent="0" algn="ctr">
              <a:lnSpc>
                <a:spcPct val="125000"/>
              </a:lnSpc>
              <a:buNone/>
            </a:pPr>
            <a:r>
              <a:rPr lang="en-US" sz="1300" b="1" dirty="0">
                <a:latin typeface="Georgia" pitchFamily="34" charset="0"/>
                <a:ea typeface="Georgia" pitchFamily="34" charset="-122"/>
                <a:cs typeface="Georgia" pitchFamily="34" charset="-120"/>
              </a:rPr>
              <a:t>Operations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65760" y="3749040"/>
            <a:ext cx="1965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10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Staff · Subjects</a:t>
            </a:r>
            <a:endParaRPr lang="en-US" sz="1000" dirty="0"/>
          </a:p>
          <a:p>
            <a:pPr marL="0" indent="0" algn="ctr">
              <a:lnSpc>
                <a:spcPct val="140000"/>
              </a:lnSpc>
              <a:buNone/>
            </a:pPr>
            <a:r>
              <a:rPr lang="en-US" sz="10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Timetable · Slots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514600" y="2331720"/>
            <a:ext cx="1965960" cy="2377440"/>
          </a:xfrm>
          <a:prstGeom prst="rect">
            <a:avLst/>
          </a:prstGeom>
          <a:solidFill>
            <a:schemeClr val="accent4">
              <a:lumMod val="40000"/>
              <a:lumOff val="60000"/>
              <a:alpha val="80000"/>
            </a:schemeClr>
          </a:solidFill>
          <a:ln w="19050">
            <a:solidFill>
              <a:srgbClr val="FFFFFF">
                <a:alpha val="5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514600" y="2331720"/>
            <a:ext cx="1965960" cy="5486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514600" y="2468880"/>
            <a:ext cx="1965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dirty="0"/>
              <a:t>🎥</a:t>
            </a:r>
          </a:p>
        </p:txBody>
      </p:sp>
      <p:sp>
        <p:nvSpPr>
          <p:cNvPr id="15" name="Text 13"/>
          <p:cNvSpPr/>
          <p:nvPr/>
        </p:nvSpPr>
        <p:spPr>
          <a:xfrm>
            <a:off x="2514600" y="3154680"/>
            <a:ext cx="1965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300" b="1" dirty="0">
                <a:latin typeface="Georgia" pitchFamily="34" charset="0"/>
                <a:ea typeface="Georgia" pitchFamily="34" charset="-122"/>
                <a:cs typeface="Georgia" pitchFamily="34" charset="-120"/>
              </a:rPr>
              <a:t>Live Virtual</a:t>
            </a:r>
            <a:endParaRPr lang="en-US" sz="1300" dirty="0"/>
          </a:p>
          <a:p>
            <a:pPr marL="0" indent="0" algn="ctr">
              <a:lnSpc>
                <a:spcPct val="125000"/>
              </a:lnSpc>
              <a:buNone/>
            </a:pPr>
            <a:r>
              <a:rPr lang="en-US" sz="1300" b="1" dirty="0">
                <a:latin typeface="Georgia" pitchFamily="34" charset="0"/>
                <a:ea typeface="Georgia" pitchFamily="34" charset="-122"/>
                <a:cs typeface="Georgia" pitchFamily="34" charset="-120"/>
              </a:rPr>
              <a:t>Classroom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2514600" y="3749040"/>
            <a:ext cx="1965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10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HD Video · Whiteboard</a:t>
            </a:r>
            <a:endParaRPr lang="en-US" sz="1000" dirty="0"/>
          </a:p>
          <a:p>
            <a:pPr marL="0" indent="0" algn="ctr">
              <a:lnSpc>
                <a:spcPct val="140000"/>
              </a:lnSpc>
              <a:buNone/>
            </a:pPr>
            <a:r>
              <a:rPr lang="en-US" sz="10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Recording · Breakouts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663440" y="2331720"/>
            <a:ext cx="1965960" cy="2377440"/>
          </a:xfrm>
          <a:prstGeom prst="rect">
            <a:avLst/>
          </a:prstGeom>
          <a:solidFill>
            <a:schemeClr val="accent4">
              <a:lumMod val="40000"/>
              <a:lumOff val="60000"/>
              <a:alpha val="80000"/>
            </a:schemeClr>
          </a:solidFill>
          <a:ln w="19050">
            <a:solidFill>
              <a:srgbClr val="FFFFFF">
                <a:alpha val="50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663440" y="2331720"/>
            <a:ext cx="1965960" cy="5486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663440" y="2468880"/>
            <a:ext cx="1965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dirty="0"/>
              <a:t>📖</a:t>
            </a:r>
          </a:p>
        </p:txBody>
      </p:sp>
      <p:sp>
        <p:nvSpPr>
          <p:cNvPr id="20" name="Text 18"/>
          <p:cNvSpPr/>
          <p:nvPr/>
        </p:nvSpPr>
        <p:spPr>
          <a:xfrm>
            <a:off x="4663440" y="3154680"/>
            <a:ext cx="1965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300" b="1" dirty="0">
                <a:latin typeface="Georgia" pitchFamily="34" charset="0"/>
                <a:ea typeface="Georgia" pitchFamily="34" charset="-122"/>
                <a:cs typeface="Georgia" pitchFamily="34" charset="-120"/>
              </a:rPr>
              <a:t>eLearning</a:t>
            </a:r>
            <a:endParaRPr lang="en-US" sz="1300" dirty="0"/>
          </a:p>
          <a:p>
            <a:pPr marL="0" indent="0" algn="ctr">
              <a:lnSpc>
                <a:spcPct val="125000"/>
              </a:lnSpc>
              <a:buNone/>
            </a:pPr>
            <a:r>
              <a:rPr lang="en-US" sz="1300" b="1" dirty="0">
                <a:latin typeface="Georgia" pitchFamily="34" charset="0"/>
                <a:ea typeface="Georgia" pitchFamily="34" charset="-122"/>
                <a:cs typeface="Georgia" pitchFamily="34" charset="-120"/>
              </a:rPr>
              <a:t>&amp; LMS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663440" y="3749040"/>
            <a:ext cx="1965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10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Courses · Quizzes</a:t>
            </a:r>
            <a:endParaRPr lang="en-US" sz="1000" dirty="0"/>
          </a:p>
          <a:p>
            <a:pPr marL="0" indent="0" algn="ctr">
              <a:lnSpc>
                <a:spcPct val="140000"/>
              </a:lnSpc>
              <a:buNone/>
            </a:pPr>
            <a:r>
              <a:rPr lang="en-US" sz="10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Assignments · Forums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812280" y="2331720"/>
            <a:ext cx="1965960" cy="2377440"/>
          </a:xfrm>
          <a:prstGeom prst="rect">
            <a:avLst/>
          </a:prstGeom>
          <a:solidFill>
            <a:schemeClr val="accent4">
              <a:lumMod val="40000"/>
              <a:lumOff val="60000"/>
              <a:alpha val="80000"/>
            </a:schemeClr>
          </a:solidFill>
          <a:ln w="19050">
            <a:solidFill>
              <a:srgbClr val="FFFFFF">
                <a:alpha val="50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812280" y="2331720"/>
            <a:ext cx="1965960" cy="5486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812280" y="2468880"/>
            <a:ext cx="1965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dirty="0"/>
              <a:t>📊</a:t>
            </a:r>
          </a:p>
        </p:txBody>
      </p:sp>
      <p:sp>
        <p:nvSpPr>
          <p:cNvPr id="25" name="Text 23"/>
          <p:cNvSpPr/>
          <p:nvPr/>
        </p:nvSpPr>
        <p:spPr>
          <a:xfrm>
            <a:off x="6812280" y="3154680"/>
            <a:ext cx="1965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300" b="1" dirty="0">
                <a:latin typeface="Georgia" pitchFamily="34" charset="0"/>
                <a:ea typeface="Georgia" pitchFamily="34" charset="-122"/>
                <a:cs typeface="Georgia" pitchFamily="34" charset="-120"/>
              </a:rPr>
              <a:t>Reports &amp;</a:t>
            </a:r>
            <a:endParaRPr lang="en-US" sz="1300" dirty="0"/>
          </a:p>
          <a:p>
            <a:pPr marL="0" indent="0" algn="ctr">
              <a:lnSpc>
                <a:spcPct val="125000"/>
              </a:lnSpc>
              <a:buNone/>
            </a:pPr>
            <a:r>
              <a:rPr lang="en-US" sz="1300" b="1" dirty="0">
                <a:latin typeface="Georgia" pitchFamily="34" charset="0"/>
                <a:ea typeface="Georgia" pitchFamily="34" charset="-122"/>
                <a:cs typeface="Georgia" pitchFamily="34" charset="-120"/>
              </a:rPr>
              <a:t>Analytics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812280" y="3749040"/>
            <a:ext cx="1965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10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Attendance · Performance</a:t>
            </a:r>
            <a:endParaRPr lang="en-US" sz="1000" dirty="0"/>
          </a:p>
          <a:p>
            <a:pPr marL="0" indent="0" algn="ctr">
              <a:lnSpc>
                <a:spcPct val="140000"/>
              </a:lnSpc>
              <a:buNone/>
            </a:pPr>
            <a:r>
              <a:rPr lang="en-US" sz="10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Faculty · Engagement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3E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D4580A"/>
          </a:solidFill>
          <a:ln w="12700">
            <a:solidFill>
              <a:srgbClr val="D4580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FDB8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CORE MODULES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3A15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Complete coverage from operations to learning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320040" y="1463040"/>
            <a:ext cx="1920240" cy="1508760"/>
          </a:xfrm>
          <a:prstGeom prst="rect">
            <a:avLst/>
          </a:prstGeom>
          <a:solidFill>
            <a:srgbClr val="FFFDF8"/>
          </a:solidFill>
          <a:ln w="9525">
            <a:solidFill>
              <a:srgbClr val="E8C8A0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463040"/>
            <a:ext cx="1920240" cy="64008"/>
          </a:xfrm>
          <a:prstGeom prst="rect">
            <a:avLst/>
          </a:prstGeom>
          <a:solidFill>
            <a:srgbClr val="D4580A"/>
          </a:solidFill>
          <a:ln w="12700">
            <a:solidFill>
              <a:srgbClr val="D4580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60020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👨‍🏫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320040" y="2267712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D458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 Mgmt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468880" y="1463040"/>
            <a:ext cx="1920240" cy="1508760"/>
          </a:xfrm>
          <a:prstGeom prst="rect">
            <a:avLst/>
          </a:prstGeom>
          <a:solidFill>
            <a:srgbClr val="FFFDF8"/>
          </a:solidFill>
          <a:ln w="9525">
            <a:solidFill>
              <a:srgbClr val="E8C8A0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468880" y="1463040"/>
            <a:ext cx="1920240" cy="64008"/>
          </a:xfrm>
          <a:prstGeom prst="rect">
            <a:avLst/>
          </a:prstGeom>
          <a:solidFill>
            <a:srgbClr val="6B4A8A"/>
          </a:solidFill>
          <a:ln w="12700">
            <a:solidFill>
              <a:srgbClr val="6B4A8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468880" y="160020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📚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2468880" y="2267712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6B4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Subjects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617720" y="1463040"/>
            <a:ext cx="1920240" cy="1508760"/>
          </a:xfrm>
          <a:prstGeom prst="rect">
            <a:avLst/>
          </a:prstGeom>
          <a:solidFill>
            <a:srgbClr val="FFFDF8"/>
          </a:solidFill>
          <a:ln w="9525">
            <a:solidFill>
              <a:srgbClr val="E8C8A0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617720" y="1463040"/>
            <a:ext cx="1920240" cy="64008"/>
          </a:xfrm>
          <a:prstGeom prst="rect">
            <a:avLst/>
          </a:prstGeom>
          <a:solidFill>
            <a:srgbClr val="2A6B58"/>
          </a:solidFill>
          <a:ln w="12700">
            <a:solidFill>
              <a:srgbClr val="2A6B5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617720" y="160020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🗓️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4617720" y="2267712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A6B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Timetable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766560" y="1463040"/>
            <a:ext cx="1920240" cy="1508760"/>
          </a:xfrm>
          <a:prstGeom prst="rect">
            <a:avLst/>
          </a:prstGeom>
          <a:solidFill>
            <a:srgbClr val="FFFDF8"/>
          </a:solidFill>
          <a:ln w="9525">
            <a:solidFill>
              <a:srgbClr val="E8C8A0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766560" y="1463040"/>
            <a:ext cx="1920240" cy="64008"/>
          </a:xfrm>
          <a:prstGeom prst="rect">
            <a:avLst/>
          </a:prstGeom>
          <a:solidFill>
            <a:srgbClr val="8A3A2A"/>
          </a:solidFill>
          <a:ln w="12700">
            <a:solidFill>
              <a:srgbClr val="8A3A2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766560" y="160020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⏰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6766560" y="2267712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8A3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Slot Mgmt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20040" y="3200400"/>
            <a:ext cx="1920240" cy="1508760"/>
          </a:xfrm>
          <a:prstGeom prst="rect">
            <a:avLst/>
          </a:prstGeom>
          <a:solidFill>
            <a:srgbClr val="FFFDF8"/>
          </a:solidFill>
          <a:ln w="9525">
            <a:solidFill>
              <a:srgbClr val="E8C8A0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20040" y="3200400"/>
            <a:ext cx="1920240" cy="64008"/>
          </a:xfrm>
          <a:prstGeom prst="rect">
            <a:avLst/>
          </a:prstGeom>
          <a:solidFill>
            <a:srgbClr val="2A5A9A"/>
          </a:solidFill>
          <a:ln w="12700">
            <a:solidFill>
              <a:srgbClr val="2A5A9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20040" y="333756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🎥</a:t>
            </a:r>
            <a:endParaRPr lang="en-US" sz="2800" dirty="0"/>
          </a:p>
        </p:txBody>
      </p:sp>
      <p:sp>
        <p:nvSpPr>
          <p:cNvPr id="24" name="Text 22"/>
          <p:cNvSpPr/>
          <p:nvPr/>
        </p:nvSpPr>
        <p:spPr>
          <a:xfrm>
            <a:off x="320040" y="4005072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A5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 Class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2468880" y="3200400"/>
            <a:ext cx="1920240" cy="1508760"/>
          </a:xfrm>
          <a:prstGeom prst="rect">
            <a:avLst/>
          </a:prstGeom>
          <a:solidFill>
            <a:srgbClr val="FFFDF8"/>
          </a:solidFill>
          <a:ln w="9525">
            <a:solidFill>
              <a:srgbClr val="E8C8A0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2468880" y="3200400"/>
            <a:ext cx="1920240" cy="64008"/>
          </a:xfrm>
          <a:prstGeom prst="rect">
            <a:avLst/>
          </a:prstGeom>
          <a:solidFill>
            <a:srgbClr val="2A6B4A"/>
          </a:solidFill>
          <a:ln w="12700">
            <a:solidFill>
              <a:srgbClr val="2A6B4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468880" y="333756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🧠</a:t>
            </a:r>
            <a:endParaRPr lang="en-US" sz="2800" dirty="0"/>
          </a:p>
        </p:txBody>
      </p:sp>
      <p:sp>
        <p:nvSpPr>
          <p:cNvPr id="28" name="Text 26"/>
          <p:cNvSpPr/>
          <p:nvPr/>
        </p:nvSpPr>
        <p:spPr>
          <a:xfrm>
            <a:off x="2468880" y="4005072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A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eLearning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617720" y="3200400"/>
            <a:ext cx="1920240" cy="1508760"/>
          </a:xfrm>
          <a:prstGeom prst="rect">
            <a:avLst/>
          </a:prstGeom>
          <a:solidFill>
            <a:srgbClr val="FFFDF8"/>
          </a:solidFill>
          <a:ln w="9525">
            <a:solidFill>
              <a:srgbClr val="E8C8A0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617720" y="3200400"/>
            <a:ext cx="1920240" cy="64008"/>
          </a:xfrm>
          <a:prstGeom prst="rect">
            <a:avLst/>
          </a:prstGeom>
          <a:solidFill>
            <a:srgbClr val="7A4A1A"/>
          </a:solidFill>
          <a:ln w="12700">
            <a:solidFill>
              <a:srgbClr val="7A4A1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617720" y="333756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📊</a:t>
            </a:r>
            <a:endParaRPr lang="en-US" sz="2800" dirty="0"/>
          </a:p>
        </p:txBody>
      </p:sp>
      <p:sp>
        <p:nvSpPr>
          <p:cNvPr id="32" name="Text 30"/>
          <p:cNvSpPr/>
          <p:nvPr/>
        </p:nvSpPr>
        <p:spPr>
          <a:xfrm>
            <a:off x="4617720" y="4005072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7A4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6766560" y="3200400"/>
            <a:ext cx="1920240" cy="1508760"/>
          </a:xfrm>
          <a:prstGeom prst="rect">
            <a:avLst/>
          </a:prstGeom>
          <a:solidFill>
            <a:srgbClr val="FFFDF8"/>
          </a:solidFill>
          <a:ln w="9525">
            <a:solidFill>
              <a:srgbClr val="E8C8A0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6766560" y="3200400"/>
            <a:ext cx="1920240" cy="64008"/>
          </a:xfrm>
          <a:prstGeom prst="rect">
            <a:avLst/>
          </a:prstGeom>
          <a:solidFill>
            <a:srgbClr val="4A3A8A"/>
          </a:solidFill>
          <a:ln w="12700">
            <a:solidFill>
              <a:srgbClr val="4A3A8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766560" y="333756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⚙️</a:t>
            </a:r>
            <a:endParaRPr lang="en-US" sz="2800" dirty="0"/>
          </a:p>
        </p:txBody>
      </p:sp>
      <p:sp>
        <p:nvSpPr>
          <p:cNvPr id="36" name="Text 34"/>
          <p:cNvSpPr/>
          <p:nvPr/>
        </p:nvSpPr>
        <p:spPr>
          <a:xfrm>
            <a:off x="6766560" y="4005072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4A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FFE8C0"/>
          </a:solidFill>
          <a:ln w="12700">
            <a:solidFill>
              <a:srgbClr val="FFE8C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57200" y="4901184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B06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VidyaSetu  •  Sanskrit College Virtual Classroom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3E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D4580A"/>
          </a:solidFill>
          <a:ln w="12700">
            <a:solidFill>
              <a:srgbClr val="D4580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FDB8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 &amp; 2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320040" y="914400"/>
            <a:ext cx="3931920" cy="502920"/>
          </a:xfrm>
          <a:prstGeom prst="rect">
            <a:avLst/>
          </a:prstGeom>
          <a:solidFill>
            <a:srgbClr val="D4580A"/>
          </a:solidFill>
          <a:ln w="12700">
            <a:solidFill>
              <a:srgbClr val="D4580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914400"/>
            <a:ext cx="3931920" cy="50292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👨‍🏫  Staff Management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320040" y="1508760"/>
            <a:ext cx="3931920" cy="457200"/>
          </a:xfrm>
          <a:prstGeom prst="rect">
            <a:avLst/>
          </a:prstGeom>
          <a:solidFill>
            <a:srgbClr val="FFFDF8"/>
          </a:solidFill>
          <a:ln w="6350">
            <a:solidFill>
              <a:srgbClr val="E8D8C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50876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A1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Faculty profiles with qualifications &amp; specializations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0040" y="2020824"/>
            <a:ext cx="3931920" cy="457200"/>
          </a:xfrm>
          <a:prstGeom prst="rect">
            <a:avLst/>
          </a:prstGeom>
          <a:solidFill>
            <a:srgbClr val="FFE8C0"/>
          </a:solidFill>
          <a:ln w="6350">
            <a:solidFill>
              <a:srgbClr val="E8D8C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2020824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A1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Role-based access: Admin, HOD, Teacher, Guest Lecturer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0040" y="2532888"/>
            <a:ext cx="3931920" cy="457200"/>
          </a:xfrm>
          <a:prstGeom prst="rect">
            <a:avLst/>
          </a:prstGeom>
          <a:solidFill>
            <a:srgbClr val="FFFDF8"/>
          </a:solidFill>
          <a:ln w="6350">
            <a:solidFill>
              <a:srgbClr val="E8D8C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" y="2532888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A1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Attendance &amp; availability calendar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20040" y="3044952"/>
            <a:ext cx="3931920" cy="457200"/>
          </a:xfrm>
          <a:prstGeom prst="rect">
            <a:avLst/>
          </a:prstGeom>
          <a:solidFill>
            <a:srgbClr val="FFE8C0"/>
          </a:solidFill>
          <a:ln w="6350">
            <a:solidFill>
              <a:srgbClr val="E8D8C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11480" y="3044952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A1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Teaching load &amp; workload analytics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20040" y="3557016"/>
            <a:ext cx="3931920" cy="457200"/>
          </a:xfrm>
          <a:prstGeom prst="rect">
            <a:avLst/>
          </a:prstGeom>
          <a:solidFill>
            <a:srgbClr val="FFFDF8"/>
          </a:solidFill>
          <a:ln w="6350">
            <a:solidFill>
              <a:srgbClr val="E8D8C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11480" y="3557016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A1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Credential &amp; document management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20040" y="4069080"/>
            <a:ext cx="3931920" cy="457200"/>
          </a:xfrm>
          <a:prstGeom prst="rect">
            <a:avLst/>
          </a:prstGeom>
          <a:solidFill>
            <a:srgbClr val="FFE8C0"/>
          </a:solidFill>
          <a:ln w="6350">
            <a:solidFill>
              <a:srgbClr val="E8D8C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11480" y="406908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A1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Performance &amp; appraisal dashboards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892040" y="914400"/>
            <a:ext cx="3931920" cy="502920"/>
          </a:xfrm>
          <a:prstGeom prst="rect">
            <a:avLst/>
          </a:prstGeom>
          <a:solidFill>
            <a:srgbClr val="6B4A8A"/>
          </a:solidFill>
          <a:ln w="12700">
            <a:solidFill>
              <a:srgbClr val="6B4A8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92040" y="914400"/>
            <a:ext cx="3931920" cy="50292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📚  Subject Management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4892040" y="1508760"/>
            <a:ext cx="3931920" cy="457200"/>
          </a:xfrm>
          <a:prstGeom prst="rect">
            <a:avLst/>
          </a:prstGeom>
          <a:solidFill>
            <a:srgbClr val="FFFDF8"/>
          </a:solidFill>
          <a:ln w="6350">
            <a:solidFill>
              <a:srgbClr val="E8C8A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983480" y="150876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A1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Curriculum builder with syllabus mapping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892040" y="2020824"/>
            <a:ext cx="3931920" cy="457200"/>
          </a:xfrm>
          <a:prstGeom prst="rect">
            <a:avLst/>
          </a:prstGeom>
          <a:solidFill>
            <a:srgbClr val="FFE8C0"/>
          </a:solidFill>
          <a:ln w="6350">
            <a:solidFill>
              <a:srgbClr val="E8C8A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983480" y="2020824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A1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Subject-to-teacher assignment &amp; tracking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892040" y="2532888"/>
            <a:ext cx="3931920" cy="457200"/>
          </a:xfrm>
          <a:prstGeom prst="rect">
            <a:avLst/>
          </a:prstGeom>
          <a:solidFill>
            <a:srgbClr val="FFFDF8"/>
          </a:solidFill>
          <a:ln w="6350">
            <a:solidFill>
              <a:srgbClr val="E8C8A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983480" y="2532888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A1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Course material upload: PDF, video, audio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892040" y="3044952"/>
            <a:ext cx="3931920" cy="457200"/>
          </a:xfrm>
          <a:prstGeom prst="rect">
            <a:avLst/>
          </a:prstGeom>
          <a:solidFill>
            <a:srgbClr val="FFE8C0"/>
          </a:solidFill>
          <a:ln w="6350">
            <a:solidFill>
              <a:srgbClr val="E8C8A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983480" y="3044952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A1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Multi-language support (Sanskrit, English, Hindi)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892040" y="3557016"/>
            <a:ext cx="3931920" cy="457200"/>
          </a:xfrm>
          <a:prstGeom prst="rect">
            <a:avLst/>
          </a:prstGeom>
          <a:solidFill>
            <a:srgbClr val="FFFDF8"/>
          </a:solidFill>
          <a:ln w="6350">
            <a:solidFill>
              <a:srgbClr val="E8C8A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983480" y="3557016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A1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Prerequisite &amp; co-requisite subject linking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892040" y="4069080"/>
            <a:ext cx="3931920" cy="457200"/>
          </a:xfrm>
          <a:prstGeom prst="rect">
            <a:avLst/>
          </a:prstGeom>
          <a:solidFill>
            <a:srgbClr val="FFE8C0"/>
          </a:solidFill>
          <a:ln w="6350">
            <a:solidFill>
              <a:srgbClr val="E8C8A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983480" y="406908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A1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Subject-wise student progress tracking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FFE8C0"/>
          </a:solidFill>
          <a:ln w="12700">
            <a:solidFill>
              <a:srgbClr val="FFE8C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57200" y="4901184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B06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VidyaSetu  •  Sanskrit College Virtual Classroom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3E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12700">
            <a:solidFill>
              <a:srgbClr val="2A6B5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4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MODULE 3 &amp; 4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320040" y="914400"/>
            <a:ext cx="3931920" cy="502920"/>
          </a:xfrm>
          <a:prstGeom prst="rect">
            <a:avLst/>
          </a:prstGeom>
          <a:solidFill>
            <a:schemeClr val="accent2"/>
          </a:solidFill>
          <a:ln w="12700">
            <a:solidFill>
              <a:srgbClr val="2A6B5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914400"/>
            <a:ext cx="3931920" cy="50292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🗓️  Timetable Management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320040" y="1508760"/>
            <a:ext cx="3931920" cy="457200"/>
          </a:xfrm>
          <a:prstGeom prst="rect">
            <a:avLst/>
          </a:prstGeom>
          <a:solidFill>
            <a:srgbClr val="FFFDF8"/>
          </a:solidFill>
          <a:ln w="6350">
            <a:solidFill>
              <a:srgbClr val="E8D8C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50876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A1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Drag-and-drop visual timetable builder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0040" y="2020824"/>
            <a:ext cx="3931920" cy="457200"/>
          </a:xfrm>
          <a:prstGeom prst="rect">
            <a:avLst/>
          </a:prstGeom>
          <a:solidFill>
            <a:srgbClr val="FFE8C0"/>
          </a:solidFill>
          <a:ln w="6350">
            <a:solidFill>
              <a:srgbClr val="E8D8C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2020824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A1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Conflict detection &amp; auto-resolution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0040" y="2532888"/>
            <a:ext cx="3931920" cy="457200"/>
          </a:xfrm>
          <a:prstGeom prst="rect">
            <a:avLst/>
          </a:prstGeom>
          <a:solidFill>
            <a:srgbClr val="FFFDF8"/>
          </a:solidFill>
          <a:ln w="6350">
            <a:solidFill>
              <a:srgbClr val="E8D8C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" y="2532888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A1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Class, batch &amp; section scheduling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20040" y="3044952"/>
            <a:ext cx="3931920" cy="457200"/>
          </a:xfrm>
          <a:prstGeom prst="rect">
            <a:avLst/>
          </a:prstGeom>
          <a:solidFill>
            <a:srgbClr val="FFE8C0"/>
          </a:solidFill>
          <a:ln w="6350">
            <a:solidFill>
              <a:srgbClr val="E8D8C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11480" y="3044952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A1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Holiday &amp; academic calendar integration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20040" y="3557016"/>
            <a:ext cx="3931920" cy="457200"/>
          </a:xfrm>
          <a:prstGeom prst="rect">
            <a:avLst/>
          </a:prstGeom>
          <a:solidFill>
            <a:srgbClr val="FFFDF8"/>
          </a:solidFill>
          <a:ln w="6350">
            <a:solidFill>
              <a:srgbClr val="E8D8C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11480" y="3557016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A1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Export to PDF / share with students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20040" y="4069080"/>
            <a:ext cx="3931920" cy="457200"/>
          </a:xfrm>
          <a:prstGeom prst="rect">
            <a:avLst/>
          </a:prstGeom>
          <a:solidFill>
            <a:srgbClr val="FFE8C0"/>
          </a:solidFill>
          <a:ln w="6350">
            <a:solidFill>
              <a:srgbClr val="E8D8C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11480" y="406908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A1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Substitute teacher assignment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892040" y="914400"/>
            <a:ext cx="3931920" cy="502920"/>
          </a:xfrm>
          <a:prstGeom prst="rect">
            <a:avLst/>
          </a:prstGeom>
          <a:solidFill>
            <a:srgbClr val="8A3A2A"/>
          </a:solidFill>
          <a:ln w="12700">
            <a:solidFill>
              <a:srgbClr val="8A3A2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92040" y="914400"/>
            <a:ext cx="3931920" cy="50292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⏰  Slot Management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4892040" y="1508760"/>
            <a:ext cx="3931920" cy="457200"/>
          </a:xfrm>
          <a:prstGeom prst="rect">
            <a:avLst/>
          </a:prstGeom>
          <a:solidFill>
            <a:srgbClr val="FFFDF8"/>
          </a:solidFill>
          <a:ln w="6350">
            <a:solidFill>
              <a:srgbClr val="E8C8A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983480" y="150876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A1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Flexible slot duration configuration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892040" y="2020824"/>
            <a:ext cx="3931920" cy="457200"/>
          </a:xfrm>
          <a:prstGeom prst="rect">
            <a:avLst/>
          </a:prstGeom>
          <a:solidFill>
            <a:srgbClr val="FFE8C0"/>
          </a:solidFill>
          <a:ln w="6350">
            <a:solidFill>
              <a:srgbClr val="E8C8A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983480" y="2020824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A1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Recurring &amp; one-time session slots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892040" y="2532888"/>
            <a:ext cx="3931920" cy="457200"/>
          </a:xfrm>
          <a:prstGeom prst="rect">
            <a:avLst/>
          </a:prstGeom>
          <a:solidFill>
            <a:srgbClr val="FFFDF8"/>
          </a:solidFill>
          <a:ln w="6350">
            <a:solidFill>
              <a:srgbClr val="E8C8A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983480" y="2532888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A1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Student self-booking for elective classes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892040" y="3044952"/>
            <a:ext cx="3931920" cy="457200"/>
          </a:xfrm>
          <a:prstGeom prst="rect">
            <a:avLst/>
          </a:prstGeom>
          <a:solidFill>
            <a:srgbClr val="FFE8C0"/>
          </a:solidFill>
          <a:ln w="6350">
            <a:solidFill>
              <a:srgbClr val="E8C8A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983480" y="3044952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A1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Buffer time between sessions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892040" y="3557016"/>
            <a:ext cx="3931920" cy="457200"/>
          </a:xfrm>
          <a:prstGeom prst="rect">
            <a:avLst/>
          </a:prstGeom>
          <a:solidFill>
            <a:srgbClr val="FFFDF8"/>
          </a:solidFill>
          <a:ln w="6350">
            <a:solidFill>
              <a:srgbClr val="E8C8A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983480" y="3557016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A1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Booking confirmation &amp; reminders (SMS/Email)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892040" y="4069080"/>
            <a:ext cx="3931920" cy="457200"/>
          </a:xfrm>
          <a:prstGeom prst="rect">
            <a:avLst/>
          </a:prstGeom>
          <a:solidFill>
            <a:srgbClr val="FFE8C0"/>
          </a:solidFill>
          <a:ln w="6350">
            <a:solidFill>
              <a:srgbClr val="E8C8A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983480" y="406908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A1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Waitlist management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FFE8C0"/>
          </a:solidFill>
          <a:ln w="12700">
            <a:solidFill>
              <a:srgbClr val="FFE8C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57200" y="4901184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B06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VidyaSetu  •  Sanskrit College Virtual Classroom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3E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2A5A9A"/>
          </a:solidFill>
          <a:ln w="12700">
            <a:solidFill>
              <a:srgbClr val="2A5A9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FDB8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5  —  VIRTUAL CLASSROOM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3A15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🎥  Live Virtual Learning Environment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1389888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A3A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fully interactive classroom experience accessible from any browser or device.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20040" y="1901952"/>
            <a:ext cx="2697480" cy="1234440"/>
          </a:xfrm>
          <a:prstGeom prst="rect">
            <a:avLst/>
          </a:prstGeom>
          <a:solidFill>
            <a:srgbClr val="FFE8C0"/>
          </a:solidFill>
          <a:ln w="9525">
            <a:solidFill>
              <a:srgbClr val="2A5A9A">
                <a:alpha val="5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" y="1901952"/>
            <a:ext cx="54864" cy="1234440"/>
          </a:xfrm>
          <a:prstGeom prst="rect">
            <a:avLst/>
          </a:prstGeom>
          <a:solidFill>
            <a:srgbClr val="2A5A9A"/>
          </a:solidFill>
          <a:ln w="12700">
            <a:solidFill>
              <a:srgbClr val="2A5A9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993392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A5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📹  HD Video Conferencing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2340864"/>
            <a:ext cx="2468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7A3A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WebRTC-based low-latency streaming with 500+ concurrent users support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27832" y="1901952"/>
            <a:ext cx="2697480" cy="1234440"/>
          </a:xfrm>
          <a:prstGeom prst="rect">
            <a:avLst/>
          </a:prstGeom>
          <a:solidFill>
            <a:srgbClr val="FFE8C0"/>
          </a:solidFill>
          <a:ln w="9525">
            <a:solidFill>
              <a:srgbClr val="2A5A9A">
                <a:alpha val="5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227832" y="1901952"/>
            <a:ext cx="54864" cy="1234440"/>
          </a:xfrm>
          <a:prstGeom prst="rect">
            <a:avLst/>
          </a:prstGeom>
          <a:solidFill>
            <a:srgbClr val="2A5A9A"/>
          </a:solidFill>
          <a:ln w="12700">
            <a:solidFill>
              <a:srgbClr val="2A5A9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64992" y="1993392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A5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✏️  Interactive Whiteboard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364992" y="2340864"/>
            <a:ext cx="2468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7A3A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drawing, annotations and Sanskrit script support for teaching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135624" y="1901952"/>
            <a:ext cx="2697480" cy="1234440"/>
          </a:xfrm>
          <a:prstGeom prst="rect">
            <a:avLst/>
          </a:prstGeom>
          <a:solidFill>
            <a:srgbClr val="FFE8C0"/>
          </a:solidFill>
          <a:ln w="9525">
            <a:solidFill>
              <a:srgbClr val="2A5A9A">
                <a:alpha val="5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135624" y="1901952"/>
            <a:ext cx="54864" cy="1234440"/>
          </a:xfrm>
          <a:prstGeom prst="rect">
            <a:avLst/>
          </a:prstGeom>
          <a:solidFill>
            <a:srgbClr val="2A5A9A"/>
          </a:solidFill>
          <a:ln w="12700">
            <a:solidFill>
              <a:srgbClr val="2A5A9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72784" y="1993392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A5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🖥️  Screen Sharing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272784" y="2340864"/>
            <a:ext cx="2468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7A3A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screen or application sharing with annotation overlay tools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20040" y="3319272"/>
            <a:ext cx="2697480" cy="1234440"/>
          </a:xfrm>
          <a:prstGeom prst="rect">
            <a:avLst/>
          </a:prstGeom>
          <a:solidFill>
            <a:srgbClr val="FFE8C0"/>
          </a:solidFill>
          <a:ln w="9525">
            <a:solidFill>
              <a:srgbClr val="2A5A9A">
                <a:alpha val="50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20040" y="3319272"/>
            <a:ext cx="54864" cy="1234440"/>
          </a:xfrm>
          <a:prstGeom prst="rect">
            <a:avLst/>
          </a:prstGeom>
          <a:solidFill>
            <a:srgbClr val="2A5A9A"/>
          </a:solidFill>
          <a:ln w="12700">
            <a:solidFill>
              <a:srgbClr val="2A5A9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3410712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A5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⏺️  Session Recording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57200" y="3758184"/>
            <a:ext cx="2468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7A3A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Auto-record classes for later playback; stored in secure cloud storage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227832" y="3319272"/>
            <a:ext cx="2697480" cy="1234440"/>
          </a:xfrm>
          <a:prstGeom prst="rect">
            <a:avLst/>
          </a:prstGeom>
          <a:solidFill>
            <a:srgbClr val="FFE8C0"/>
          </a:solidFill>
          <a:ln w="9525">
            <a:solidFill>
              <a:srgbClr val="2A5A9A">
                <a:alpha val="50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227832" y="3319272"/>
            <a:ext cx="54864" cy="1234440"/>
          </a:xfrm>
          <a:prstGeom prst="rect">
            <a:avLst/>
          </a:prstGeom>
          <a:solidFill>
            <a:srgbClr val="2A5A9A"/>
          </a:solidFill>
          <a:ln w="12700">
            <a:solidFill>
              <a:srgbClr val="2A5A9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364992" y="3410712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A5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🏠  Breakout Rooms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3364992" y="3758184"/>
            <a:ext cx="2468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7A3A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students into small groups for discussions and group projects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135624" y="3319272"/>
            <a:ext cx="2697480" cy="1234440"/>
          </a:xfrm>
          <a:prstGeom prst="rect">
            <a:avLst/>
          </a:prstGeom>
          <a:solidFill>
            <a:srgbClr val="FFE8C0"/>
          </a:solidFill>
          <a:ln w="9525">
            <a:solidFill>
              <a:srgbClr val="2A5A9A">
                <a:alpha val="50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135624" y="3319272"/>
            <a:ext cx="54864" cy="1234440"/>
          </a:xfrm>
          <a:prstGeom prst="rect">
            <a:avLst/>
          </a:prstGeom>
          <a:solidFill>
            <a:srgbClr val="2A5A9A"/>
          </a:solidFill>
          <a:ln w="12700">
            <a:solidFill>
              <a:srgbClr val="2A5A9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272784" y="3410712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A5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🙋  Live Engagement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272784" y="3758184"/>
            <a:ext cx="2468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7A3A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Raise hand, live polls, Q&amp;A board, and real-time attendance tracking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3E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chemeClr val="accent2"/>
          </a:solidFill>
          <a:ln w="12700">
            <a:solidFill>
              <a:srgbClr val="2A6B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4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MODULE 6  —  eLEARNING &amp; LMS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3A15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🧠  Full-Featured Learning Management System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20040" y="1481328"/>
            <a:ext cx="2697480" cy="1508760"/>
          </a:xfrm>
          <a:prstGeom prst="rect">
            <a:avLst/>
          </a:prstGeom>
          <a:solidFill>
            <a:srgbClr val="FFFDF8"/>
          </a:solidFill>
          <a:ln w="12700">
            <a:solidFill>
              <a:srgbClr val="C8E0D0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481328"/>
            <a:ext cx="2697480" cy="64008"/>
          </a:xfrm>
          <a:prstGeom prst="rect">
            <a:avLst/>
          </a:prstGeom>
          <a:solidFill>
            <a:srgbClr val="2A6B4A"/>
          </a:solidFill>
          <a:ln w="12700">
            <a:solidFill>
              <a:srgbClr val="2A6B4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29768" y="1618488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A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📂  Course Builder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29768" y="1975104"/>
            <a:ext cx="2468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7A3A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structured courses with modules, lessons &amp; resources. Upload PDFs, videos, audio.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27832" y="1481328"/>
            <a:ext cx="2697480" cy="1508760"/>
          </a:xfrm>
          <a:prstGeom prst="rect">
            <a:avLst/>
          </a:prstGeom>
          <a:solidFill>
            <a:srgbClr val="FFFDF8"/>
          </a:solidFill>
          <a:ln w="12700">
            <a:solidFill>
              <a:srgbClr val="C8E0D0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27832" y="1481328"/>
            <a:ext cx="2697480" cy="64008"/>
          </a:xfrm>
          <a:prstGeom prst="rect">
            <a:avLst/>
          </a:prstGeom>
          <a:solidFill>
            <a:srgbClr val="2A6B4A"/>
          </a:solidFill>
          <a:ln w="12700">
            <a:solidFill>
              <a:srgbClr val="2A6B4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37560" y="1618488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A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📝  Assignments &amp; Quizzes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337560" y="1975104"/>
            <a:ext cx="2468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7A3A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Auto-graded quizzes, manual assignments, and rubric-based assessments with instant feedback.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135624" y="1481328"/>
            <a:ext cx="2697480" cy="1508760"/>
          </a:xfrm>
          <a:prstGeom prst="rect">
            <a:avLst/>
          </a:prstGeom>
          <a:solidFill>
            <a:srgbClr val="FFFDF8"/>
          </a:solidFill>
          <a:ln w="12700">
            <a:solidFill>
              <a:srgbClr val="C8E0D0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135624" y="1481328"/>
            <a:ext cx="2697480" cy="64008"/>
          </a:xfrm>
          <a:prstGeom prst="rect">
            <a:avLst/>
          </a:prstGeom>
          <a:solidFill>
            <a:srgbClr val="2A6B4A"/>
          </a:solidFill>
          <a:ln w="12700">
            <a:solidFill>
              <a:srgbClr val="2A6B4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45352" y="1618488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A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💬  Discussion Forums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245352" y="1975104"/>
            <a:ext cx="2468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7A3A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Threaded forums for peer learning, subject Q&amp;A, and collaborative study groups.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20040" y="3145536"/>
            <a:ext cx="2697480" cy="1508760"/>
          </a:xfrm>
          <a:prstGeom prst="rect">
            <a:avLst/>
          </a:prstGeom>
          <a:solidFill>
            <a:srgbClr val="FFFDF8"/>
          </a:solidFill>
          <a:ln w="12700">
            <a:solidFill>
              <a:srgbClr val="C8E0D0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20040" y="3145536"/>
            <a:ext cx="2697480" cy="64008"/>
          </a:xfrm>
          <a:prstGeom prst="rect">
            <a:avLst/>
          </a:prstGeom>
          <a:solidFill>
            <a:srgbClr val="2A6B4A"/>
          </a:solidFill>
          <a:ln w="12700">
            <a:solidFill>
              <a:srgbClr val="2A6B4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29768" y="3282696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A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🏆  Gamification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29768" y="3639312"/>
            <a:ext cx="2468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7A3A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Points, badges &amp; leaderboards reward consistent study. Certificates on course completion motivate students to stay engaged and achieve learning goals.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227832" y="3145536"/>
            <a:ext cx="2697480" cy="1508760"/>
          </a:xfrm>
          <a:prstGeom prst="rect">
            <a:avLst/>
          </a:prstGeom>
          <a:solidFill>
            <a:srgbClr val="FFFDF8"/>
          </a:solidFill>
          <a:ln w="12700">
            <a:solidFill>
              <a:srgbClr val="C8E0D0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227832" y="3145536"/>
            <a:ext cx="2697480" cy="64008"/>
          </a:xfrm>
          <a:prstGeom prst="rect">
            <a:avLst/>
          </a:prstGeom>
          <a:solidFill>
            <a:srgbClr val="2A6B4A"/>
          </a:solidFill>
          <a:ln w="12700">
            <a:solidFill>
              <a:srgbClr val="2A6B4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337560" y="3282696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A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📱  Mobile App + Offline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3337560" y="3639312"/>
            <a:ext cx="2468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7A3A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iOS/Android app. Download lessons for offline access in low-connectivity areas.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135624" y="3145536"/>
            <a:ext cx="2697480" cy="1508760"/>
          </a:xfrm>
          <a:prstGeom prst="rect">
            <a:avLst/>
          </a:prstGeom>
          <a:solidFill>
            <a:srgbClr val="FFFDF8"/>
          </a:solidFill>
          <a:ln w="12700">
            <a:solidFill>
              <a:srgbClr val="C8E0D0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135624" y="3145536"/>
            <a:ext cx="2697480" cy="64008"/>
          </a:xfrm>
          <a:prstGeom prst="rect">
            <a:avLst/>
          </a:prstGeom>
          <a:solidFill>
            <a:srgbClr val="2A6B4A"/>
          </a:solidFill>
          <a:ln w="12700">
            <a:solidFill>
              <a:srgbClr val="2A6B4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245352" y="3282696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A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  AI Study Recommendations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245352" y="3639312"/>
            <a:ext cx="2468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7A3A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quizzes and personalised learning paths based on each student's pace and progress.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FFE8C0"/>
          </a:solidFill>
          <a:ln w="12700">
            <a:solidFill>
              <a:srgbClr val="FFE8C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57200" y="4901184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B06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VidyaSetu  •  Sanskrit College Virtual Classroom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3E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D4580A"/>
          </a:solidFill>
          <a:ln w="12700">
            <a:solidFill>
              <a:srgbClr val="D4580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FDB8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7 &amp; 8  —  REPORTS &amp; ADMINISTRATION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3A15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📊  Data-driven insights for smarter decisions</a:t>
            </a:r>
            <a:endParaRPr lang="en-US" sz="20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365760" y="1463040"/>
          <a:ext cx="4023360" cy="31089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Shape 3"/>
          <p:cNvSpPr/>
          <p:nvPr/>
        </p:nvSpPr>
        <p:spPr>
          <a:xfrm>
            <a:off x="4663440" y="1417320"/>
            <a:ext cx="4206240" cy="594360"/>
          </a:xfrm>
          <a:prstGeom prst="rect">
            <a:avLst/>
          </a:prstGeom>
          <a:solidFill>
            <a:srgbClr val="FFFDF8"/>
          </a:solidFill>
          <a:ln w="9525">
            <a:solidFill>
              <a:srgbClr val="E8C8A0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663440" y="1417320"/>
            <a:ext cx="54864" cy="594360"/>
          </a:xfrm>
          <a:prstGeom prst="rect">
            <a:avLst/>
          </a:prstGeom>
          <a:solidFill>
            <a:srgbClr val="D4580A"/>
          </a:solidFill>
          <a:ln w="12700">
            <a:solidFill>
              <a:srgbClr val="D4580A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800600" y="1453896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458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👥  Attendance Reports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4800600" y="1709928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3A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Daily, weekly, monthly by student, class, and subject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4663440" y="2103120"/>
            <a:ext cx="4206240" cy="594360"/>
          </a:xfrm>
          <a:prstGeom prst="rect">
            <a:avLst/>
          </a:prstGeom>
          <a:solidFill>
            <a:srgbClr val="FFE8C0"/>
          </a:solidFill>
          <a:ln w="9525">
            <a:solidFill>
              <a:srgbClr val="E8C8A0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663440" y="2103120"/>
            <a:ext cx="54864" cy="594360"/>
          </a:xfrm>
          <a:prstGeom prst="rect">
            <a:avLst/>
          </a:prstGeom>
          <a:solidFill>
            <a:srgbClr val="D4580A"/>
          </a:solidFill>
          <a:ln w="12700">
            <a:solidFill>
              <a:srgbClr val="D4580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800600" y="2139696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458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 Performance Dashboard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4800600" y="2395728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3A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Grades, quiz scores, and assignment completion rates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4663440" y="2788920"/>
            <a:ext cx="4206240" cy="594360"/>
          </a:xfrm>
          <a:prstGeom prst="rect">
            <a:avLst/>
          </a:prstGeom>
          <a:solidFill>
            <a:srgbClr val="FFFDF8"/>
          </a:solidFill>
          <a:ln w="9525">
            <a:solidFill>
              <a:srgbClr val="E8C8A0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4663440" y="2788920"/>
            <a:ext cx="54864" cy="594360"/>
          </a:xfrm>
          <a:prstGeom prst="rect">
            <a:avLst/>
          </a:prstGeom>
          <a:solidFill>
            <a:srgbClr val="D4580A"/>
          </a:solidFill>
          <a:ln w="12700">
            <a:solidFill>
              <a:srgbClr val="D4580A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800600" y="2825496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458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👨‍🏫  Faculty Analytics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4800600" y="3081528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3A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Teaching hours, session quality, and availability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4663440" y="3474720"/>
            <a:ext cx="4206240" cy="594360"/>
          </a:xfrm>
          <a:prstGeom prst="rect">
            <a:avLst/>
          </a:prstGeom>
          <a:solidFill>
            <a:srgbClr val="FFE8C0"/>
          </a:solidFill>
          <a:ln w="9525">
            <a:solidFill>
              <a:srgbClr val="E8C8A0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4663440" y="3474720"/>
            <a:ext cx="54864" cy="594360"/>
          </a:xfrm>
          <a:prstGeom prst="rect">
            <a:avLst/>
          </a:prstGeom>
          <a:solidFill>
            <a:srgbClr val="D4580A"/>
          </a:solidFill>
          <a:ln w="12700">
            <a:solidFill>
              <a:srgbClr val="D4580A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800600" y="3511296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458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 Exam &amp; Assessment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4800600" y="3767328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3A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 tabulation with rank lists and progress trends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4663440" y="4160520"/>
            <a:ext cx="4206240" cy="594360"/>
          </a:xfrm>
          <a:prstGeom prst="rect">
            <a:avLst/>
          </a:prstGeom>
          <a:solidFill>
            <a:srgbClr val="FFFDF8"/>
          </a:solidFill>
          <a:ln w="9525">
            <a:solidFill>
              <a:srgbClr val="E8C8A0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4663440" y="4160520"/>
            <a:ext cx="54864" cy="594360"/>
          </a:xfrm>
          <a:prstGeom prst="rect">
            <a:avLst/>
          </a:prstGeom>
          <a:solidFill>
            <a:srgbClr val="D4580A"/>
          </a:solidFill>
          <a:ln w="12700">
            <a:solidFill>
              <a:srgbClr val="D4580A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800600" y="4197096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458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📤  Export &amp; Share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4800600" y="4453128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3A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One-click export to Excel/PDF; email to parents or admin</a:t>
            </a:r>
            <a:endParaRPr lang="en-US" sz="1000" dirty="0"/>
          </a:p>
        </p:txBody>
      </p:sp>
      <p:sp>
        <p:nvSpPr>
          <p:cNvPr id="26" name="Shape 23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FFE8C0"/>
          </a:solidFill>
          <a:ln w="12700">
            <a:solidFill>
              <a:srgbClr val="FFE8C0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457200" y="4901184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B06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VidyaSetu  •  Sanskrit College Virtual Classroom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3E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D4580A"/>
          </a:solidFill>
          <a:ln w="12700">
            <a:solidFill>
              <a:srgbClr val="D4580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FDB8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3A15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Modern, scalable, cloud-ready architecture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20040" y="1463040"/>
            <a:ext cx="8503920" cy="411480"/>
          </a:xfrm>
          <a:prstGeom prst="rect">
            <a:avLst/>
          </a:prstGeom>
          <a:solidFill>
            <a:srgbClr val="D4580A"/>
          </a:solidFill>
          <a:ln w="12700">
            <a:solidFill>
              <a:srgbClr val="D4580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46304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783080" y="146304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983480" y="1463040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0040" y="1920240"/>
            <a:ext cx="8503920" cy="438912"/>
          </a:xfrm>
          <a:prstGeom prst="rect">
            <a:avLst/>
          </a:prstGeom>
          <a:solidFill>
            <a:srgbClr val="FFFDF8"/>
          </a:solidFill>
          <a:ln w="6350">
            <a:solidFill>
              <a:srgbClr val="E8C8A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1920240"/>
            <a:ext cx="12801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458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783080" y="1920240"/>
            <a:ext cx="31089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A1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React.js + TypeScript (PWA)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983480" y="1920240"/>
            <a:ext cx="3657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3A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Responsive, offline-capable web app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20040" y="2395728"/>
            <a:ext cx="8503920" cy="438912"/>
          </a:xfrm>
          <a:prstGeom prst="rect">
            <a:avLst/>
          </a:prstGeom>
          <a:solidFill>
            <a:srgbClr val="FFE8C0"/>
          </a:solidFill>
          <a:ln w="6350">
            <a:solidFill>
              <a:srgbClr val="E8C8A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1480" y="2395728"/>
            <a:ext cx="12801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458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783080" y="2395728"/>
            <a:ext cx="31089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A1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/ Django REST API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983480" y="2395728"/>
            <a:ext cx="3657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3A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Microservices, horizontally scalable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20040" y="2871216"/>
            <a:ext cx="8503920" cy="438912"/>
          </a:xfrm>
          <a:prstGeom prst="rect">
            <a:avLst/>
          </a:prstGeom>
          <a:solidFill>
            <a:srgbClr val="FFFDF8"/>
          </a:solidFill>
          <a:ln w="6350">
            <a:solidFill>
              <a:srgbClr val="E8C8A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11480" y="2871216"/>
            <a:ext cx="12801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458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Engine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783080" y="2871216"/>
            <a:ext cx="31089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A1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WebRTC + Jitsi / Agora SDK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983480" y="2871216"/>
            <a:ext cx="3657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3A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500+ concurrent low-latency sessions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20040" y="3346704"/>
            <a:ext cx="8503920" cy="438912"/>
          </a:xfrm>
          <a:prstGeom prst="rect">
            <a:avLst/>
          </a:prstGeom>
          <a:solidFill>
            <a:srgbClr val="FFE8C0"/>
          </a:solidFill>
          <a:ln w="6350">
            <a:solidFill>
              <a:srgbClr val="E8C8A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11480" y="3346704"/>
            <a:ext cx="12801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458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783080" y="3346704"/>
            <a:ext cx="31089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A1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+ Redis Cache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983480" y="3346704"/>
            <a:ext cx="3657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3A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ACID-compliant with fast caching layer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20040" y="3822192"/>
            <a:ext cx="8503920" cy="438912"/>
          </a:xfrm>
          <a:prstGeom prst="rect">
            <a:avLst/>
          </a:prstGeom>
          <a:solidFill>
            <a:srgbClr val="FFFDF8"/>
          </a:solidFill>
          <a:ln w="6350">
            <a:solidFill>
              <a:srgbClr val="E8C8A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11480" y="3822192"/>
            <a:ext cx="12801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458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1783080" y="3822192"/>
            <a:ext cx="31089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A1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S3 / MinIO (India)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983480" y="3822192"/>
            <a:ext cx="3657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3A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Media, recordings &amp; document storage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20040" y="4297680"/>
            <a:ext cx="8503920" cy="438912"/>
          </a:xfrm>
          <a:prstGeom prst="rect">
            <a:avLst/>
          </a:prstGeom>
          <a:solidFill>
            <a:srgbClr val="FFE8C0"/>
          </a:solidFill>
          <a:ln w="6350">
            <a:solidFill>
              <a:srgbClr val="E8C8A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11480" y="4297680"/>
            <a:ext cx="12801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458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&amp; Security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1783080" y="4297680"/>
            <a:ext cx="31089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A1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OAuth2 + JWT + SSO + 2FA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983480" y="4297680"/>
            <a:ext cx="3657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3A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TLS 1.3 encryption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FFE8C0"/>
          </a:solidFill>
          <a:ln w="12700">
            <a:solidFill>
              <a:srgbClr val="FFE8C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57200" y="4901184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B06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VidyaSetu  •  Sanskrit College Virtual Classroom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3E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D4580A"/>
          </a:solidFill>
          <a:ln w="12700">
            <a:solidFill>
              <a:srgbClr val="D4580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FDB8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ROADMAP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3A15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14-week phased delivery plan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20040" y="1463040"/>
            <a:ext cx="1965960" cy="3291840"/>
          </a:xfrm>
          <a:prstGeom prst="rect">
            <a:avLst/>
          </a:prstGeom>
          <a:solidFill>
            <a:srgbClr val="FFFDF8"/>
          </a:solidFill>
          <a:ln w="12700">
            <a:solidFill>
              <a:srgbClr val="E8C8A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463040"/>
            <a:ext cx="1965960" cy="822960"/>
          </a:xfrm>
          <a:prstGeom prst="rect">
            <a:avLst/>
          </a:prstGeom>
          <a:solidFill>
            <a:srgbClr val="D4580A"/>
          </a:solidFill>
          <a:ln w="12700">
            <a:solidFill>
              <a:srgbClr val="D4580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481328"/>
            <a:ext cx="1965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01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20040" y="1783080"/>
            <a:ext cx="1965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Foundation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320040" y="2331720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458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1–4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" y="2651760"/>
            <a:ext cx="73152" cy="228600"/>
          </a:xfrm>
          <a:prstGeom prst="rect">
            <a:avLst/>
          </a:prstGeom>
          <a:solidFill>
            <a:srgbClr val="D4580A"/>
          </a:solidFill>
          <a:ln w="12700">
            <a:solidFill>
              <a:srgbClr val="D4580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12648" y="2651760"/>
            <a:ext cx="1600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7A3A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Staff, Subject &amp; Admin modules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" y="3127248"/>
            <a:ext cx="73152" cy="228600"/>
          </a:xfrm>
          <a:prstGeom prst="rect">
            <a:avLst/>
          </a:prstGeom>
          <a:solidFill>
            <a:srgbClr val="D4580A"/>
          </a:solidFill>
          <a:ln w="12700">
            <a:solidFill>
              <a:srgbClr val="D4580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12648" y="3127248"/>
            <a:ext cx="1600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7A3A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Timetable &amp; Slot management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" y="3602736"/>
            <a:ext cx="73152" cy="228600"/>
          </a:xfrm>
          <a:prstGeom prst="rect">
            <a:avLst/>
          </a:prstGeom>
          <a:solidFill>
            <a:srgbClr val="D4580A"/>
          </a:solidFill>
          <a:ln w="12700">
            <a:solidFill>
              <a:srgbClr val="D4580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12648" y="3602736"/>
            <a:ext cx="1600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7A3A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auth &amp; user portal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" y="4078224"/>
            <a:ext cx="73152" cy="228600"/>
          </a:xfrm>
          <a:prstGeom prst="rect">
            <a:avLst/>
          </a:prstGeom>
          <a:solidFill>
            <a:srgbClr val="D4580A"/>
          </a:solidFill>
          <a:ln w="12700">
            <a:solidFill>
              <a:srgbClr val="D4580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12648" y="4078224"/>
            <a:ext cx="1600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7A3A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console setup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468880" y="1463040"/>
            <a:ext cx="1965960" cy="3291840"/>
          </a:xfrm>
          <a:prstGeom prst="rect">
            <a:avLst/>
          </a:prstGeom>
          <a:solidFill>
            <a:srgbClr val="FFFDF8"/>
          </a:solidFill>
          <a:ln w="12700">
            <a:solidFill>
              <a:srgbClr val="E8C8A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2468880" y="1463040"/>
            <a:ext cx="1965960" cy="822960"/>
          </a:xfrm>
          <a:prstGeom prst="rect">
            <a:avLst/>
          </a:prstGeom>
          <a:solidFill>
            <a:srgbClr val="2A5A9A"/>
          </a:solidFill>
          <a:ln w="12700">
            <a:solidFill>
              <a:srgbClr val="2A5A9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468880" y="1481328"/>
            <a:ext cx="1965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02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2468880" y="1783080"/>
            <a:ext cx="1965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Virtual Classroom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2468880" y="2331720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A5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5–8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2606040" y="2651760"/>
            <a:ext cx="73152" cy="228600"/>
          </a:xfrm>
          <a:prstGeom prst="rect">
            <a:avLst/>
          </a:prstGeom>
          <a:solidFill>
            <a:srgbClr val="2A5A9A"/>
          </a:solidFill>
          <a:ln w="12700">
            <a:solidFill>
              <a:srgbClr val="2A5A9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761488" y="2651760"/>
            <a:ext cx="1600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7A3A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HD video sessions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2606040" y="3127248"/>
            <a:ext cx="73152" cy="228600"/>
          </a:xfrm>
          <a:prstGeom prst="rect">
            <a:avLst/>
          </a:prstGeom>
          <a:solidFill>
            <a:srgbClr val="2A5A9A"/>
          </a:solidFill>
          <a:ln w="12700">
            <a:solidFill>
              <a:srgbClr val="2A5A9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761488" y="3127248"/>
            <a:ext cx="1600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7A3A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Whiteboard &amp; screen sharing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2606040" y="3602736"/>
            <a:ext cx="73152" cy="228600"/>
          </a:xfrm>
          <a:prstGeom prst="rect">
            <a:avLst/>
          </a:prstGeom>
          <a:solidFill>
            <a:srgbClr val="2A5A9A"/>
          </a:solidFill>
          <a:ln w="12700">
            <a:solidFill>
              <a:srgbClr val="2A5A9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761488" y="3602736"/>
            <a:ext cx="1600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7A3A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Breakout rooms &amp; recording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2606040" y="4078224"/>
            <a:ext cx="73152" cy="228600"/>
          </a:xfrm>
          <a:prstGeom prst="rect">
            <a:avLst/>
          </a:prstGeom>
          <a:solidFill>
            <a:srgbClr val="2A5A9A"/>
          </a:solidFill>
          <a:ln w="12700">
            <a:solidFill>
              <a:srgbClr val="2A5A9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761488" y="4078224"/>
            <a:ext cx="1600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7A3A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attendance tracking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617720" y="1463040"/>
            <a:ext cx="1965960" cy="3291840"/>
          </a:xfrm>
          <a:prstGeom prst="rect">
            <a:avLst/>
          </a:prstGeom>
          <a:solidFill>
            <a:srgbClr val="FFFDF8"/>
          </a:solidFill>
          <a:ln w="12700">
            <a:solidFill>
              <a:srgbClr val="E8C8A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617720" y="1463040"/>
            <a:ext cx="1965960" cy="822960"/>
          </a:xfrm>
          <a:prstGeom prst="rect">
            <a:avLst/>
          </a:prstGeom>
          <a:solidFill>
            <a:srgbClr val="2A6B4A"/>
          </a:solidFill>
          <a:ln w="12700">
            <a:solidFill>
              <a:srgbClr val="2A6B4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617720" y="1481328"/>
            <a:ext cx="1965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03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4617720" y="1783080"/>
            <a:ext cx="1965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eLearning Suite</a:t>
            </a:r>
            <a:endParaRPr lang="en-US" sz="1500" dirty="0"/>
          </a:p>
        </p:txBody>
      </p:sp>
      <p:sp>
        <p:nvSpPr>
          <p:cNvPr id="35" name="Text 33"/>
          <p:cNvSpPr/>
          <p:nvPr/>
        </p:nvSpPr>
        <p:spPr>
          <a:xfrm>
            <a:off x="4617720" y="2331720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A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9–12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4754880" y="2651760"/>
            <a:ext cx="73152" cy="228600"/>
          </a:xfrm>
          <a:prstGeom prst="rect">
            <a:avLst/>
          </a:prstGeom>
          <a:solidFill>
            <a:srgbClr val="2A6B4A"/>
          </a:solidFill>
          <a:ln w="12700">
            <a:solidFill>
              <a:srgbClr val="2A6B4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910328" y="2651760"/>
            <a:ext cx="1600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7A3A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LMS &amp; course builder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4754880" y="3127248"/>
            <a:ext cx="73152" cy="228600"/>
          </a:xfrm>
          <a:prstGeom prst="rect">
            <a:avLst/>
          </a:prstGeom>
          <a:solidFill>
            <a:srgbClr val="2A6B4A"/>
          </a:solidFill>
          <a:ln w="12700">
            <a:solidFill>
              <a:srgbClr val="2A6B4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910328" y="3127248"/>
            <a:ext cx="1600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7A3A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Assignments, quizzes, grading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4754880" y="3602736"/>
            <a:ext cx="73152" cy="228600"/>
          </a:xfrm>
          <a:prstGeom prst="rect">
            <a:avLst/>
          </a:prstGeom>
          <a:solidFill>
            <a:srgbClr val="2A6B4A"/>
          </a:solidFill>
          <a:ln w="12700">
            <a:solidFill>
              <a:srgbClr val="2A6B4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910328" y="3602736"/>
            <a:ext cx="1600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7A3A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Discussion forums &amp; gamification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4754880" y="4078224"/>
            <a:ext cx="73152" cy="228600"/>
          </a:xfrm>
          <a:prstGeom prst="rect">
            <a:avLst/>
          </a:prstGeom>
          <a:solidFill>
            <a:srgbClr val="2A6B4A"/>
          </a:solidFill>
          <a:ln w="12700">
            <a:solidFill>
              <a:srgbClr val="2A6B4A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910328" y="4078224"/>
            <a:ext cx="1600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7A3A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app (iOS + Android)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6766560" y="1463040"/>
            <a:ext cx="1965960" cy="3291840"/>
          </a:xfrm>
          <a:prstGeom prst="rect">
            <a:avLst/>
          </a:prstGeom>
          <a:solidFill>
            <a:srgbClr val="FFFDF8"/>
          </a:solidFill>
          <a:ln w="12700">
            <a:solidFill>
              <a:srgbClr val="E8C8A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6766560" y="1463040"/>
            <a:ext cx="1965960" cy="822960"/>
          </a:xfrm>
          <a:prstGeom prst="rect">
            <a:avLst/>
          </a:prstGeom>
          <a:solidFill>
            <a:srgbClr val="7A4A1A"/>
          </a:solidFill>
          <a:ln w="12700">
            <a:solidFill>
              <a:srgbClr val="7A4A1A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766560" y="1481328"/>
            <a:ext cx="1965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04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6766560" y="1783080"/>
            <a:ext cx="1965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Reports &amp; Launch</a:t>
            </a:r>
            <a:endParaRPr lang="en-US" sz="1500" dirty="0"/>
          </a:p>
        </p:txBody>
      </p:sp>
      <p:sp>
        <p:nvSpPr>
          <p:cNvPr id="48" name="Text 46"/>
          <p:cNvSpPr/>
          <p:nvPr/>
        </p:nvSpPr>
        <p:spPr>
          <a:xfrm>
            <a:off x="6766560" y="2331720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7A4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Wks 13–14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6903720" y="2651760"/>
            <a:ext cx="73152" cy="228600"/>
          </a:xfrm>
          <a:prstGeom prst="rect">
            <a:avLst/>
          </a:prstGeom>
          <a:solidFill>
            <a:srgbClr val="7A4A1A"/>
          </a:solidFill>
          <a:ln w="12700">
            <a:solidFill>
              <a:srgbClr val="7A4A1A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7059168" y="2651760"/>
            <a:ext cx="1600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7A3A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dashboards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6903720" y="3127248"/>
            <a:ext cx="73152" cy="228600"/>
          </a:xfrm>
          <a:prstGeom prst="rect">
            <a:avLst/>
          </a:prstGeom>
          <a:solidFill>
            <a:srgbClr val="7A4A1A"/>
          </a:solidFill>
          <a:ln w="12700">
            <a:solidFill>
              <a:srgbClr val="7A4A1A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7059168" y="3127248"/>
            <a:ext cx="1600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7A3A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ERP/API integrations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6903720" y="3602736"/>
            <a:ext cx="73152" cy="228600"/>
          </a:xfrm>
          <a:prstGeom prst="rect">
            <a:avLst/>
          </a:prstGeom>
          <a:solidFill>
            <a:srgbClr val="7A4A1A"/>
          </a:solidFill>
          <a:ln w="12700">
            <a:solidFill>
              <a:srgbClr val="7A4A1A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7059168" y="3602736"/>
            <a:ext cx="1600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7A3A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 training &amp; UAT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6903720" y="4078224"/>
            <a:ext cx="73152" cy="228600"/>
          </a:xfrm>
          <a:prstGeom prst="rect">
            <a:avLst/>
          </a:prstGeom>
          <a:solidFill>
            <a:srgbClr val="7A4A1A"/>
          </a:solidFill>
          <a:ln w="12700">
            <a:solidFill>
              <a:srgbClr val="7A4A1A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7059168" y="4078224"/>
            <a:ext cx="1600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7A3A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Go-live &amp; support</a:t>
            </a:r>
            <a:endParaRPr lang="en-US" sz="1000" dirty="0"/>
          </a:p>
        </p:txBody>
      </p:sp>
      <p:sp>
        <p:nvSpPr>
          <p:cNvPr id="57" name="Shape 55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FFE8C0"/>
          </a:solidFill>
          <a:ln w="12700">
            <a:solidFill>
              <a:srgbClr val="FFE8C0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457200" y="4901184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B06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VidyaSetu  •  Sanskrit College Virtual Classroom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D458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E87020"/>
          </a:solidFill>
          <a:ln w="12700">
            <a:solidFill>
              <a:srgbClr val="E8702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BENEFITS FOR EVERYONE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VidyaSetu transforms the experience for every stakeholder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274320" y="1463040"/>
            <a:ext cx="2788920" cy="3383280"/>
          </a:xfrm>
          <a:prstGeom prst="rect">
            <a:avLst/>
          </a:prstGeom>
          <a:solidFill>
            <a:srgbClr val="FFFDF8"/>
          </a:solidFill>
          <a:ln w="25400">
            <a:solidFill>
              <a:srgbClr val="2A5A9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1463040"/>
            <a:ext cx="2788920" cy="658368"/>
          </a:xfrm>
          <a:prstGeom prst="rect">
            <a:avLst/>
          </a:prstGeom>
          <a:solidFill>
            <a:srgbClr val="2A5A9A"/>
          </a:solidFill>
          <a:ln w="12700">
            <a:solidFill>
              <a:srgbClr val="2A5A9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1481328"/>
            <a:ext cx="5943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👨‍🎓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841248" y="1508760"/>
            <a:ext cx="2148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Students / Shishya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274320" y="2148840"/>
            <a:ext cx="2788920" cy="420624"/>
          </a:xfrm>
          <a:prstGeom prst="rect">
            <a:avLst/>
          </a:prstGeom>
          <a:solidFill>
            <a:srgbClr val="FFFDF8"/>
          </a:solidFill>
          <a:ln w="6350">
            <a:solidFill>
              <a:srgbClr val="E8D0A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2148840"/>
            <a:ext cx="26060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A1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📶  Learn anytime, anywhere — mobile &amp; offline access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274320" y="2596896"/>
            <a:ext cx="2788920" cy="420624"/>
          </a:xfrm>
          <a:prstGeom prst="rect">
            <a:avLst/>
          </a:prstGeom>
          <a:solidFill>
            <a:srgbClr val="FFE8C0"/>
          </a:solidFill>
          <a:ln w="6350">
            <a:solidFill>
              <a:srgbClr val="E8D0A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2596896"/>
            <a:ext cx="26060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A1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 Personalised learning paths &amp; AI study suggestions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274320" y="3044952"/>
            <a:ext cx="2788920" cy="420624"/>
          </a:xfrm>
          <a:prstGeom prst="rect">
            <a:avLst/>
          </a:prstGeom>
          <a:solidFill>
            <a:srgbClr val="FFFDF8"/>
          </a:solidFill>
          <a:ln w="6350">
            <a:solidFill>
              <a:srgbClr val="E8D0A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3044952"/>
            <a:ext cx="26060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A1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📝  Instant quiz feedback &amp; assignment submissions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274320" y="3493008"/>
            <a:ext cx="2788920" cy="420624"/>
          </a:xfrm>
          <a:prstGeom prst="rect">
            <a:avLst/>
          </a:prstGeom>
          <a:solidFill>
            <a:srgbClr val="FFE8C0"/>
          </a:solidFill>
          <a:ln w="6350">
            <a:solidFill>
              <a:srgbClr val="E8D0A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3493008"/>
            <a:ext cx="26060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A1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🏆  Gamified badges &amp; leaderboards boost motivation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274320" y="3941064"/>
            <a:ext cx="2788920" cy="420624"/>
          </a:xfrm>
          <a:prstGeom prst="rect">
            <a:avLst/>
          </a:prstGeom>
          <a:solidFill>
            <a:srgbClr val="FFFDF8"/>
          </a:solidFill>
          <a:ln w="6350">
            <a:solidFill>
              <a:srgbClr val="E8D0A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3941064"/>
            <a:ext cx="26060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A1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💬  Peer forums for collaborative Sanskrit study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274320" y="4389120"/>
            <a:ext cx="2788920" cy="420624"/>
          </a:xfrm>
          <a:prstGeom prst="rect">
            <a:avLst/>
          </a:prstGeom>
          <a:solidFill>
            <a:srgbClr val="FFE8C0"/>
          </a:solidFill>
          <a:ln w="6350">
            <a:solidFill>
              <a:srgbClr val="E8D0A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4389120"/>
            <a:ext cx="26060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A1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🔔  Reminders for classes, deadlines &amp; results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3227832" y="1463040"/>
            <a:ext cx="2788920" cy="3383280"/>
          </a:xfrm>
          <a:prstGeom prst="rect">
            <a:avLst/>
          </a:prstGeom>
          <a:solidFill>
            <a:srgbClr val="FFFDF8"/>
          </a:solidFill>
          <a:ln w="25400">
            <a:solidFill>
              <a:srgbClr val="2A6B4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227832" y="1463040"/>
            <a:ext cx="2788920" cy="658368"/>
          </a:xfrm>
          <a:prstGeom prst="rect">
            <a:avLst/>
          </a:prstGeom>
          <a:solidFill>
            <a:srgbClr val="2A6B4A"/>
          </a:solidFill>
          <a:ln w="12700">
            <a:solidFill>
              <a:srgbClr val="2A6B4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227832" y="1481328"/>
            <a:ext cx="5943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👨‍🏫</a:t>
            </a:r>
            <a:endParaRPr lang="en-US" sz="2600" dirty="0"/>
          </a:p>
        </p:txBody>
      </p:sp>
      <p:sp>
        <p:nvSpPr>
          <p:cNvPr id="24" name="Text 22"/>
          <p:cNvSpPr/>
          <p:nvPr/>
        </p:nvSpPr>
        <p:spPr>
          <a:xfrm>
            <a:off x="3794760" y="1508760"/>
            <a:ext cx="2148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Staff / Guru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3227832" y="2148840"/>
            <a:ext cx="2788920" cy="420624"/>
          </a:xfrm>
          <a:prstGeom prst="rect">
            <a:avLst/>
          </a:prstGeom>
          <a:solidFill>
            <a:srgbClr val="FFFDF8"/>
          </a:solidFill>
          <a:ln w="6350">
            <a:solidFill>
              <a:srgbClr val="E8D0A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319272" y="2148840"/>
            <a:ext cx="26060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A1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🗓️  Auto-generated timetable — zero scheduling conflicts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3227832" y="2596896"/>
            <a:ext cx="2788920" cy="420624"/>
          </a:xfrm>
          <a:prstGeom prst="rect">
            <a:avLst/>
          </a:prstGeom>
          <a:solidFill>
            <a:srgbClr val="FFE8C0"/>
          </a:solidFill>
          <a:ln w="6350">
            <a:solidFill>
              <a:srgbClr val="E8D0A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319272" y="2596896"/>
            <a:ext cx="26060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A1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📤  Upload notes, videos &amp; assignments in one place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3227832" y="3044952"/>
            <a:ext cx="2788920" cy="420624"/>
          </a:xfrm>
          <a:prstGeom prst="rect">
            <a:avLst/>
          </a:prstGeom>
          <a:solidFill>
            <a:srgbClr val="FFFDF8"/>
          </a:solidFill>
          <a:ln w="6350">
            <a:solidFill>
              <a:srgbClr val="E8D0A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319272" y="3044952"/>
            <a:ext cx="26060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A1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⏺️  Record sessions for absent students to catch up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3227832" y="3493008"/>
            <a:ext cx="2788920" cy="420624"/>
          </a:xfrm>
          <a:prstGeom prst="rect">
            <a:avLst/>
          </a:prstGeom>
          <a:solidFill>
            <a:srgbClr val="FFE8C0"/>
          </a:solidFill>
          <a:ln w="6350">
            <a:solidFill>
              <a:srgbClr val="E8D0A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319272" y="3493008"/>
            <a:ext cx="26060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A1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Track each student's progress at a glance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3227832" y="3941064"/>
            <a:ext cx="2788920" cy="420624"/>
          </a:xfrm>
          <a:prstGeom prst="rect">
            <a:avLst/>
          </a:prstGeom>
          <a:solidFill>
            <a:srgbClr val="FFFDF8"/>
          </a:solidFill>
          <a:ln w="6350">
            <a:solidFill>
              <a:srgbClr val="E8D0A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319272" y="3941064"/>
            <a:ext cx="26060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A1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Digital attendance with one tap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3227832" y="4389120"/>
            <a:ext cx="2788920" cy="420624"/>
          </a:xfrm>
          <a:prstGeom prst="rect">
            <a:avLst/>
          </a:prstGeom>
          <a:solidFill>
            <a:srgbClr val="FFE8C0"/>
          </a:solidFill>
          <a:ln w="6350">
            <a:solidFill>
              <a:srgbClr val="E8D0A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319272" y="4389120"/>
            <a:ext cx="26060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A1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 Reduced admin load — more time to teach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6181344" y="1463040"/>
            <a:ext cx="2788920" cy="3383280"/>
          </a:xfrm>
          <a:prstGeom prst="rect">
            <a:avLst/>
          </a:prstGeom>
          <a:solidFill>
            <a:srgbClr val="FFFDF8"/>
          </a:solidFill>
          <a:ln w="25400">
            <a:solidFill>
              <a:srgbClr val="6B1E2C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181344" y="1463040"/>
            <a:ext cx="2788920" cy="658368"/>
          </a:xfrm>
          <a:prstGeom prst="rect">
            <a:avLst/>
          </a:prstGeom>
          <a:solidFill>
            <a:srgbClr val="6B1E2C"/>
          </a:solidFill>
          <a:ln w="12700">
            <a:solidFill>
              <a:srgbClr val="6B1E2C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181344" y="1481328"/>
            <a:ext cx="5943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🏛️</a:t>
            </a:r>
            <a:endParaRPr lang="en-US" sz="2600" dirty="0"/>
          </a:p>
        </p:txBody>
      </p:sp>
      <p:sp>
        <p:nvSpPr>
          <p:cNvPr id="40" name="Text 38"/>
          <p:cNvSpPr/>
          <p:nvPr/>
        </p:nvSpPr>
        <p:spPr>
          <a:xfrm>
            <a:off x="6748272" y="1508760"/>
            <a:ext cx="2148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College / Institution</a:t>
            </a:r>
            <a:endParaRPr lang="en-US" sz="1400" dirty="0"/>
          </a:p>
        </p:txBody>
      </p:sp>
      <p:sp>
        <p:nvSpPr>
          <p:cNvPr id="41" name="Shape 39"/>
          <p:cNvSpPr/>
          <p:nvPr/>
        </p:nvSpPr>
        <p:spPr>
          <a:xfrm>
            <a:off x="6181344" y="2148840"/>
            <a:ext cx="2788920" cy="420624"/>
          </a:xfrm>
          <a:prstGeom prst="rect">
            <a:avLst/>
          </a:prstGeom>
          <a:solidFill>
            <a:srgbClr val="FFFDF8"/>
          </a:solidFill>
          <a:ln w="6350">
            <a:solidFill>
              <a:srgbClr val="E8D0A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272784" y="2148840"/>
            <a:ext cx="26060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A1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  Full visibility into operations &amp; academic health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6181344" y="2596896"/>
            <a:ext cx="2788920" cy="420624"/>
          </a:xfrm>
          <a:prstGeom prst="rect">
            <a:avLst/>
          </a:prstGeom>
          <a:solidFill>
            <a:srgbClr val="FFE8C0"/>
          </a:solidFill>
          <a:ln w="6350">
            <a:solidFill>
              <a:srgbClr val="E8D0A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272784" y="2596896"/>
            <a:ext cx="26060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A1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💰  Lower costs vs. physical classrooms &amp; travel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6181344" y="3044952"/>
            <a:ext cx="2788920" cy="420624"/>
          </a:xfrm>
          <a:prstGeom prst="rect">
            <a:avLst/>
          </a:prstGeom>
          <a:solidFill>
            <a:srgbClr val="FFFDF8"/>
          </a:solidFill>
          <a:ln w="6350">
            <a:solidFill>
              <a:srgbClr val="E8D0A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272784" y="3044952"/>
            <a:ext cx="26060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A1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  Centralised, secure data with audit trails</a:t>
            </a:r>
            <a:endParaRPr lang="en-US" sz="1050" dirty="0"/>
          </a:p>
        </p:txBody>
      </p:sp>
      <p:sp>
        <p:nvSpPr>
          <p:cNvPr id="47" name="Shape 45"/>
          <p:cNvSpPr/>
          <p:nvPr/>
        </p:nvSpPr>
        <p:spPr>
          <a:xfrm>
            <a:off x="6181344" y="3493008"/>
            <a:ext cx="2788920" cy="420624"/>
          </a:xfrm>
          <a:prstGeom prst="rect">
            <a:avLst/>
          </a:prstGeom>
          <a:solidFill>
            <a:srgbClr val="FFE8C0"/>
          </a:solidFill>
          <a:ln w="6350">
            <a:solidFill>
              <a:srgbClr val="E8D0A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272784" y="3493008"/>
            <a:ext cx="26060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A1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 Expand reach to remote students across India</a:t>
            </a:r>
            <a:endParaRPr lang="en-US" sz="1050" dirty="0"/>
          </a:p>
        </p:txBody>
      </p:sp>
      <p:sp>
        <p:nvSpPr>
          <p:cNvPr id="49" name="Shape 47"/>
          <p:cNvSpPr/>
          <p:nvPr/>
        </p:nvSpPr>
        <p:spPr>
          <a:xfrm>
            <a:off x="6181344" y="3941064"/>
            <a:ext cx="2788920" cy="420624"/>
          </a:xfrm>
          <a:prstGeom prst="rect">
            <a:avLst/>
          </a:prstGeom>
          <a:solidFill>
            <a:srgbClr val="FFFDF8"/>
          </a:solidFill>
          <a:ln w="6350">
            <a:solidFill>
              <a:srgbClr val="E8D0A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272784" y="3941064"/>
            <a:ext cx="26060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A1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📄  Automated reports for accreditation &amp; compliance</a:t>
            </a:r>
            <a:endParaRPr lang="en-US" sz="1050" dirty="0"/>
          </a:p>
        </p:txBody>
      </p:sp>
      <p:sp>
        <p:nvSpPr>
          <p:cNvPr id="51" name="Shape 49"/>
          <p:cNvSpPr/>
          <p:nvPr/>
        </p:nvSpPr>
        <p:spPr>
          <a:xfrm>
            <a:off x="6181344" y="4389120"/>
            <a:ext cx="2788920" cy="420624"/>
          </a:xfrm>
          <a:prstGeom prst="rect">
            <a:avLst/>
          </a:prstGeom>
          <a:solidFill>
            <a:srgbClr val="FFE8C0"/>
          </a:solidFill>
          <a:ln w="6350">
            <a:solidFill>
              <a:srgbClr val="E8D0A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272784" y="4389120"/>
            <a:ext cx="26060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A1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🏅  Boost institutional prestige with digital excellence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3E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D4580A"/>
          </a:solidFill>
          <a:ln w="12700">
            <a:solidFill>
              <a:srgbClr val="D4580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FDB8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LICENSING &amp; PRICING TIERS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3A15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Choose the plan that fits your institution's scale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2560320" cy="3337560"/>
          </a:xfrm>
          <a:prstGeom prst="rect">
            <a:avLst/>
          </a:prstGeom>
          <a:solidFill>
            <a:srgbClr val="FFFDF8"/>
          </a:solidFill>
          <a:ln w="12700">
            <a:solidFill>
              <a:srgbClr val="6B4A8A">
                <a:alpha val="6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55448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6B4A8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Starter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57200" y="201168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A3A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 to 200 users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21792" y="2514600"/>
            <a:ext cx="137160" cy="137160"/>
          </a:xfrm>
          <a:prstGeom prst="ellipse">
            <a:avLst/>
          </a:prstGeom>
          <a:solidFill>
            <a:srgbClr val="6B4A8A">
              <a:alpha val="70000"/>
            </a:srgbClr>
          </a:solidFill>
          <a:ln w="12700">
            <a:solidFill>
              <a:srgbClr val="6B4A8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41248" y="2423160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A3A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 &amp; Subject Management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21792" y="2953512"/>
            <a:ext cx="137160" cy="137160"/>
          </a:xfrm>
          <a:prstGeom prst="ellipse">
            <a:avLst/>
          </a:prstGeom>
          <a:solidFill>
            <a:srgbClr val="6B4A8A">
              <a:alpha val="70000"/>
            </a:srgbClr>
          </a:solidFill>
          <a:ln w="12700">
            <a:solidFill>
              <a:srgbClr val="6B4A8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41248" y="2862072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A3A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Timetable &amp; Slot Booking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21792" y="3392424"/>
            <a:ext cx="137160" cy="137160"/>
          </a:xfrm>
          <a:prstGeom prst="ellipse">
            <a:avLst/>
          </a:prstGeom>
          <a:solidFill>
            <a:srgbClr val="6B4A8A">
              <a:alpha val="70000"/>
            </a:srgbClr>
          </a:solidFill>
          <a:ln w="12700">
            <a:solidFill>
              <a:srgbClr val="6B4A8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41248" y="3300984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A3A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 Reports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21792" y="3831336"/>
            <a:ext cx="137160" cy="137160"/>
          </a:xfrm>
          <a:prstGeom prst="ellipse">
            <a:avLst/>
          </a:prstGeom>
          <a:solidFill>
            <a:srgbClr val="6B4A8A">
              <a:alpha val="70000"/>
            </a:srgbClr>
          </a:solidFill>
          <a:ln w="12700">
            <a:solidFill>
              <a:srgbClr val="6B4A8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41248" y="3739896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A3A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Support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21792" y="4270248"/>
            <a:ext cx="137160" cy="137160"/>
          </a:xfrm>
          <a:prstGeom prst="ellipse">
            <a:avLst/>
          </a:prstGeom>
          <a:solidFill>
            <a:srgbClr val="6B4A8A">
              <a:alpha val="70000"/>
            </a:srgbClr>
          </a:solidFill>
          <a:ln w="12700">
            <a:solidFill>
              <a:srgbClr val="6B4A8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41248" y="4178808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A3A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portal access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291840" y="1463040"/>
            <a:ext cx="2560320" cy="3337560"/>
          </a:xfrm>
          <a:prstGeom prst="rect">
            <a:avLst/>
          </a:prstGeom>
          <a:solidFill>
            <a:srgbClr val="FFE8C0"/>
          </a:solidFill>
          <a:ln w="25400">
            <a:solidFill>
              <a:srgbClr val="D4580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291840" y="1463040"/>
            <a:ext cx="2560320" cy="347472"/>
          </a:xfrm>
          <a:prstGeom prst="rect">
            <a:avLst/>
          </a:prstGeom>
          <a:solidFill>
            <a:srgbClr val="D4580A"/>
          </a:solidFill>
          <a:ln w="12700">
            <a:solidFill>
              <a:srgbClr val="D4580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91840" y="1463040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3291840" y="187452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D458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Professional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3291840" y="233172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A3A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 to 1,000 users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456432" y="2852928"/>
            <a:ext cx="137160" cy="137160"/>
          </a:xfrm>
          <a:prstGeom prst="ellipse">
            <a:avLst/>
          </a:prstGeom>
          <a:solidFill>
            <a:srgbClr val="D4580A"/>
          </a:solidFill>
          <a:ln w="12700">
            <a:solidFill>
              <a:srgbClr val="D4580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75888" y="2761488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A1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in Starter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456432" y="3291840"/>
            <a:ext cx="137160" cy="137160"/>
          </a:xfrm>
          <a:prstGeom prst="ellipse">
            <a:avLst/>
          </a:prstGeom>
          <a:solidFill>
            <a:srgbClr val="D4580A"/>
          </a:solidFill>
          <a:ln w="12700">
            <a:solidFill>
              <a:srgbClr val="D4580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75888" y="3200400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A1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 Classroom (HD)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456432" y="3730752"/>
            <a:ext cx="137160" cy="137160"/>
          </a:xfrm>
          <a:prstGeom prst="ellipse">
            <a:avLst/>
          </a:prstGeom>
          <a:solidFill>
            <a:srgbClr val="D4580A"/>
          </a:solidFill>
          <a:ln w="12700">
            <a:solidFill>
              <a:srgbClr val="D4580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675888" y="3639312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A1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LMS &amp; Quizzes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456432" y="4169664"/>
            <a:ext cx="137160" cy="137160"/>
          </a:xfrm>
          <a:prstGeom prst="ellipse">
            <a:avLst/>
          </a:prstGeom>
          <a:solidFill>
            <a:srgbClr val="D4580A"/>
          </a:solidFill>
          <a:ln w="12700">
            <a:solidFill>
              <a:srgbClr val="D4580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675888" y="4078224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A1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Analytics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56432" y="4608576"/>
            <a:ext cx="137160" cy="137160"/>
          </a:xfrm>
          <a:prstGeom prst="ellipse">
            <a:avLst/>
          </a:prstGeom>
          <a:solidFill>
            <a:srgbClr val="D4580A"/>
          </a:solidFill>
          <a:ln w="12700">
            <a:solidFill>
              <a:srgbClr val="D4580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675888" y="4517136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A1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App (iOS + Android)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3456432" y="5047488"/>
            <a:ext cx="137160" cy="137160"/>
          </a:xfrm>
          <a:prstGeom prst="ellipse">
            <a:avLst/>
          </a:prstGeom>
          <a:solidFill>
            <a:srgbClr val="D4580A"/>
          </a:solidFill>
          <a:ln w="12700">
            <a:solidFill>
              <a:srgbClr val="D4580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75888" y="4956048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A1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Support &amp; SLA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6126480" y="1463040"/>
            <a:ext cx="2560320" cy="3337560"/>
          </a:xfrm>
          <a:prstGeom prst="rect">
            <a:avLst/>
          </a:prstGeom>
          <a:solidFill>
            <a:srgbClr val="FFFDF8"/>
          </a:solidFill>
          <a:ln w="12700">
            <a:solidFill>
              <a:srgbClr val="2A6B58">
                <a:alpha val="6000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126480" y="155448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A6B5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Enterprise</a:t>
            </a:r>
            <a:endParaRPr lang="en-US" sz="2200" dirty="0"/>
          </a:p>
        </p:txBody>
      </p:sp>
      <p:sp>
        <p:nvSpPr>
          <p:cNvPr id="37" name="Text 35"/>
          <p:cNvSpPr/>
          <p:nvPr/>
        </p:nvSpPr>
        <p:spPr>
          <a:xfrm>
            <a:off x="6126480" y="201168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A3A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Unlimited users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6291072" y="2514600"/>
            <a:ext cx="137160" cy="137160"/>
          </a:xfrm>
          <a:prstGeom prst="ellipse">
            <a:avLst/>
          </a:prstGeom>
          <a:solidFill>
            <a:srgbClr val="2A6B58">
              <a:alpha val="70000"/>
            </a:srgbClr>
          </a:solidFill>
          <a:ln w="12700">
            <a:solidFill>
              <a:srgbClr val="2A6B5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510528" y="2423160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A3A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in Professional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6291072" y="2953512"/>
            <a:ext cx="137160" cy="137160"/>
          </a:xfrm>
          <a:prstGeom prst="ellipse">
            <a:avLst/>
          </a:prstGeom>
          <a:solidFill>
            <a:srgbClr val="2A6B58">
              <a:alpha val="70000"/>
            </a:srgbClr>
          </a:solidFill>
          <a:ln w="12700">
            <a:solidFill>
              <a:srgbClr val="2A6B5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510528" y="2862072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A3A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Branding &amp; Domain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6291072" y="3392424"/>
            <a:ext cx="137160" cy="137160"/>
          </a:xfrm>
          <a:prstGeom prst="ellipse">
            <a:avLst/>
          </a:prstGeom>
          <a:solidFill>
            <a:srgbClr val="2A6B58">
              <a:alpha val="70000"/>
            </a:srgbClr>
          </a:solidFill>
          <a:ln w="12700">
            <a:solidFill>
              <a:srgbClr val="2A6B58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510528" y="3300984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A3A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/ ERP Integration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6291072" y="3831336"/>
            <a:ext cx="137160" cy="137160"/>
          </a:xfrm>
          <a:prstGeom prst="ellipse">
            <a:avLst/>
          </a:prstGeom>
          <a:solidFill>
            <a:srgbClr val="2A6B58">
              <a:alpha val="70000"/>
            </a:srgbClr>
          </a:solidFill>
          <a:ln w="12700">
            <a:solidFill>
              <a:srgbClr val="2A6B58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510528" y="3739896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A3A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On-premise option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6291072" y="4270248"/>
            <a:ext cx="137160" cy="137160"/>
          </a:xfrm>
          <a:prstGeom prst="ellipse">
            <a:avLst/>
          </a:prstGeom>
          <a:solidFill>
            <a:srgbClr val="2A6B58">
              <a:alpha val="70000"/>
            </a:srgbClr>
          </a:solidFill>
          <a:ln w="12700">
            <a:solidFill>
              <a:srgbClr val="2A6B58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510528" y="4178808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A3A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Dedicated Account Manager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6291072" y="4709160"/>
            <a:ext cx="137160" cy="137160"/>
          </a:xfrm>
          <a:prstGeom prst="ellipse">
            <a:avLst/>
          </a:prstGeom>
          <a:solidFill>
            <a:srgbClr val="2A6B58">
              <a:alpha val="70000"/>
            </a:srgbClr>
          </a:solidFill>
          <a:ln w="12700">
            <a:solidFill>
              <a:srgbClr val="2A6B58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510528" y="4617720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A3A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99.9% SLA Guarantee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FFE8C0"/>
          </a:solidFill>
          <a:ln w="12700">
            <a:solidFill>
              <a:srgbClr val="FFE8C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57200" y="4901184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B06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VidyaSetu  •  Sanskrit College Virtual Classroom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D458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0" y="-1828800"/>
            <a:ext cx="6400800" cy="6400800"/>
          </a:xfrm>
          <a:prstGeom prst="ellipse">
            <a:avLst/>
          </a:prstGeom>
          <a:solidFill>
            <a:srgbClr val="FDB855">
              <a:alpha val="20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828800" y="1828800"/>
            <a:ext cx="4572000" cy="4572000"/>
          </a:xfrm>
          <a:prstGeom prst="ellipse">
            <a:avLst/>
          </a:prstGeom>
          <a:solidFill>
            <a:srgbClr val="6B1E2C">
              <a:alpha val="12000"/>
            </a:srgbClr>
          </a:solidFill>
          <a:ln w="12700">
            <a:solidFill>
              <a:srgbClr val="6B1E2C">
                <a:alpha val="2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0" y="2286000"/>
            <a:ext cx="3657600" cy="3657600"/>
          </a:xfrm>
          <a:prstGeom prst="ellipse">
            <a:avLst/>
          </a:prstGeom>
          <a:solidFill>
            <a:srgbClr val="FDB855">
              <a:alpha val="15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54864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kern="0" spc="3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संस्कृत महाविद्यालय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914400" y="1005840"/>
            <a:ext cx="7315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Let's Build VidyaSetu</a:t>
            </a:r>
            <a:endParaRPr lang="en-US" sz="38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Together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914400" y="251460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FFE8C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विद्यासेतु — Bridging Ancient Knowledge with Digital Learning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77240" y="3200400"/>
            <a:ext cx="2377440" cy="1005840"/>
          </a:xfrm>
          <a:prstGeom prst="rect">
            <a:avLst/>
          </a:prstGeom>
          <a:solidFill>
            <a:srgbClr val="FFFFFF">
              <a:alpha val="20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329184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📞  Request Demo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77240" y="370332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DD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it live in 30 mins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429000" y="3200400"/>
            <a:ext cx="2377440" cy="1005840"/>
          </a:xfrm>
          <a:prstGeom prst="rect">
            <a:avLst/>
          </a:prstGeom>
          <a:solidFill>
            <a:srgbClr val="FFFFFF">
              <a:alpha val="20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29000" y="329184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 Get Proposal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429000" y="370332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DD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quote for your college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080760" y="3200400"/>
            <a:ext cx="2377440" cy="1005840"/>
          </a:xfrm>
          <a:prstGeom prst="rect">
            <a:avLst/>
          </a:prstGeom>
          <a:solidFill>
            <a:srgbClr val="FFFFFF">
              <a:alpha val="20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080760" y="329184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🚀  Pilot Program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080760" y="370332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DD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30-day trial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57200" y="484632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DD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VidyaSetu Platform  •  Powered by modern web technology  •  Made for Sanskrit Education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1306</Words>
  <Application>Microsoft Macintosh PowerPoint</Application>
  <PresentationFormat>On-screen Show (16:9)</PresentationFormat>
  <Paragraphs>282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Calibri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VidyaSetu – Virtual Classroom for Sanskrit College</dc:title>
  <dc:subject>PptxGenJS Presentation</dc:subject>
  <dc:creator>PptxGenJS</dc:creator>
  <cp:lastModifiedBy>Natarajan R</cp:lastModifiedBy>
  <cp:revision>2</cp:revision>
  <dcterms:created xsi:type="dcterms:W3CDTF">2026-03-07T08:43:20Z</dcterms:created>
  <dcterms:modified xsi:type="dcterms:W3CDTF">2026-03-07T09:06:34Z</dcterms:modified>
</cp:coreProperties>
</file>